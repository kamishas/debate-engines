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323d534e9b4304" /><Relationship Type="http://schemas.openxmlformats.org/officeDocument/2006/relationships/extended-properties" Target="/docProps/app.xml" Id="Rb7326ec961bc45f2" /><Relationship Type="http://schemas.openxmlformats.org/officeDocument/2006/relationships/officeDocument" Target="/ppt/presentation.xml" Id="R2982e6aff4ea4060" /></Relationships>
</file>

<file path=ppt/presentation.xml><?xml version="1.0" encoding="utf-8"?>
<p:presentation xmlns:p="http://schemas.openxmlformats.org/presentationml/2006/main">
  <p:sldMasterIdLst>
    <p:sldMasterId xmlns:r="http://schemas.openxmlformats.org/officeDocument/2006/relationships" id="2147483648" r:id="Rc46c634a1c7448dd"/>
  </p:sldMasterIdLst>
  <p:notesMasterIdLst>
    <p:notesMasterId xmlns:r="http://schemas.openxmlformats.org/officeDocument/2006/relationships" r:id="R310501c76ad749a0"/>
  </p:notesMasterIdLst>
  <p:sldIdLst>
    <p:sldId xmlns:r="http://schemas.openxmlformats.org/officeDocument/2006/relationships" id="256" r:id="Rf7090ff9defe45e4"/>
    <p:sldId xmlns:r="http://schemas.openxmlformats.org/officeDocument/2006/relationships" id="257" r:id="R3dde5c4f042a482e"/>
    <p:sldId xmlns:r="http://schemas.openxmlformats.org/officeDocument/2006/relationships" id="258" r:id="R19335c9e2f2040f5"/>
    <p:sldId xmlns:r="http://schemas.openxmlformats.org/officeDocument/2006/relationships" id="259" r:id="Rdbc017f4bc2f4053"/>
    <p:sldId xmlns:r="http://schemas.openxmlformats.org/officeDocument/2006/relationships" id="260" r:id="Ra10680ac26ff4393"/>
    <p:sldId xmlns:r="http://schemas.openxmlformats.org/officeDocument/2006/relationships" id="261" r:id="Rab65b6fcfe644ebf"/>
    <p:sldId xmlns:r="http://schemas.openxmlformats.org/officeDocument/2006/relationships" id="262" r:id="R670a6dcc1c1c48e8"/>
    <p:sldId xmlns:r="http://schemas.openxmlformats.org/officeDocument/2006/relationships" id="263" r:id="R4358c50e9f514c5f"/>
    <p:sldId xmlns:r="http://schemas.openxmlformats.org/officeDocument/2006/relationships" id="264" r:id="Rcd267e8546204d57"/>
    <p:sldId xmlns:r="http://schemas.openxmlformats.org/officeDocument/2006/relationships" id="265" r:id="Re1640dba5ba84d17"/>
    <p:sldId xmlns:r="http://schemas.openxmlformats.org/officeDocument/2006/relationships" id="266" r:id="Rc49af017111a4061"/>
    <p:sldId xmlns:r="http://schemas.openxmlformats.org/officeDocument/2006/relationships" id="267" r:id="R2a58a0596e1c42ae"/>
    <p:sldId xmlns:r="http://schemas.openxmlformats.org/officeDocument/2006/relationships" id="268" r:id="R37d9b34bd92a48ec"/>
    <p:sldId xmlns:r="http://schemas.openxmlformats.org/officeDocument/2006/relationships" id="269" r:id="Raf226ad8254e4b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2f5cc4917841ef" /><Relationship Type="http://schemas.openxmlformats.org/officeDocument/2006/relationships/slideMaster" Target="/ppt/slideMasters/slideMaster1.xml" Id="Rc46c634a1c7448dd" /><Relationship Type="http://schemas.openxmlformats.org/officeDocument/2006/relationships/notesMaster" Target="/ppt/notesMasters/notesMaster1.xml" Id="R310501c76ad749a0" /><Relationship Type="http://schemas.openxmlformats.org/officeDocument/2006/relationships/presProps" Target="/ppt/presProps.xml" Id="R11c5b973c199481b" /><Relationship Type="http://schemas.openxmlformats.org/officeDocument/2006/relationships/tableStyles" Target="/ppt/tableStyles.xml" Id="R22067b00337d4c65" /><Relationship Type="http://schemas.openxmlformats.org/officeDocument/2006/relationships/slide" Target="/ppt/slides/slide1.xml" Id="Rf7090ff9defe45e4" /><Relationship Type="http://schemas.openxmlformats.org/officeDocument/2006/relationships/slide" Target="/ppt/slides/slide2.xml" Id="R3dde5c4f042a482e" /><Relationship Type="http://schemas.openxmlformats.org/officeDocument/2006/relationships/slide" Target="/ppt/slides/slide3.xml" Id="R19335c9e2f2040f5" /><Relationship Type="http://schemas.openxmlformats.org/officeDocument/2006/relationships/slide" Target="/ppt/slides/slide4.xml" Id="Rdbc017f4bc2f4053" /><Relationship Type="http://schemas.openxmlformats.org/officeDocument/2006/relationships/slide" Target="/ppt/slides/slide5.xml" Id="Ra10680ac26ff4393" /><Relationship Type="http://schemas.openxmlformats.org/officeDocument/2006/relationships/slide" Target="/ppt/slides/slide6.xml" Id="Rab65b6fcfe644ebf" /><Relationship Type="http://schemas.openxmlformats.org/officeDocument/2006/relationships/slide" Target="/ppt/slides/slide7.xml" Id="R670a6dcc1c1c48e8" /><Relationship Type="http://schemas.openxmlformats.org/officeDocument/2006/relationships/slide" Target="/ppt/slides/slide8.xml" Id="R4358c50e9f514c5f" /><Relationship Type="http://schemas.openxmlformats.org/officeDocument/2006/relationships/slide" Target="/ppt/slides/slide9.xml" Id="Rcd267e8546204d57" /><Relationship Type="http://schemas.openxmlformats.org/officeDocument/2006/relationships/slide" Target="/ppt/slides/slide10.xml" Id="Re1640dba5ba84d17" /><Relationship Type="http://schemas.openxmlformats.org/officeDocument/2006/relationships/slide" Target="/ppt/slides/slide11.xml" Id="Rc49af017111a4061" /><Relationship Type="http://schemas.openxmlformats.org/officeDocument/2006/relationships/slide" Target="/ppt/slides/slide12.xml" Id="R2a58a0596e1c42ae" /><Relationship Type="http://schemas.openxmlformats.org/officeDocument/2006/relationships/slide" Target="/ppt/slides/slide13.xml" Id="R37d9b34bd92a48ec" /><Relationship Type="http://schemas.openxmlformats.org/officeDocument/2006/relationships/slide" Target="/ppt/slides/slide14.xml" Id="Raf226ad8254e4b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3e4b1fa8654f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f21875afa84750" /><Relationship Type="http://schemas.openxmlformats.org/officeDocument/2006/relationships/notesMaster" Target="/ppt/notesMasters/notesMaster1.xml" Id="Rc8492327108442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759e485dda4070" /><Relationship Type="http://schemas.openxmlformats.org/officeDocument/2006/relationships/notesMaster" Target="/ppt/notesMasters/notesMaster1.xml" Id="Rd1a29bb891664e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a59e07ef9c4689" /><Relationship Type="http://schemas.openxmlformats.org/officeDocument/2006/relationships/notesMaster" Target="/ppt/notesMasters/notesMaster1.xml" Id="R0b4708f09ed74f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a8387d341249bf" /><Relationship Type="http://schemas.openxmlformats.org/officeDocument/2006/relationships/notesMaster" Target="/ppt/notesMasters/notesMaster1.xml" Id="Rd01905b1908c4e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551122b3b74658" /><Relationship Type="http://schemas.openxmlformats.org/officeDocument/2006/relationships/notesMaster" Target="/ppt/notesMasters/notesMaster1.xml" Id="R1e37a8c9fd6447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aeed7197ae4728" /><Relationship Type="http://schemas.openxmlformats.org/officeDocument/2006/relationships/notesMaster" Target="/ppt/notesMasters/notesMaster1.xml" Id="R4b7988f7922543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8b7be0712d4ae2" /><Relationship Type="http://schemas.openxmlformats.org/officeDocument/2006/relationships/notesMaster" Target="/ppt/notesMasters/notesMaster1.xml" Id="Ref9b3fa4345243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114ccfa7174ff6" /><Relationship Type="http://schemas.openxmlformats.org/officeDocument/2006/relationships/notesMaster" Target="/ppt/notesMasters/notesMaster1.xml" Id="R0c4e026f6fa34e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4b115f8bee4388" /><Relationship Type="http://schemas.openxmlformats.org/officeDocument/2006/relationships/notesMaster" Target="/ppt/notesMasters/notesMaster1.xml" Id="Rfeabbe9143644a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9fd420b470464e" /><Relationship Type="http://schemas.openxmlformats.org/officeDocument/2006/relationships/notesMaster" Target="/ppt/notesMasters/notesMaster1.xml" Id="R99701b1f90d1493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52e68fa7ec46a4" /><Relationship Type="http://schemas.openxmlformats.org/officeDocument/2006/relationships/notesMaster" Target="/ppt/notesMasters/notesMaster1.xml" Id="R2666ad7c2d7441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ec6e4589704bb8" /><Relationship Type="http://schemas.openxmlformats.org/officeDocument/2006/relationships/notesMaster" Target="/ppt/notesMasters/notesMaster1.xml" Id="R45a2ca27f5de4a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aeb6d450f94ddb" /><Relationship Type="http://schemas.openxmlformats.org/officeDocument/2006/relationships/notesMaster" Target="/ppt/notesMasters/notesMaster1.xml" Id="Re4d7e8d3562241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e121ba26af45cf" /><Relationship Type="http://schemas.openxmlformats.org/officeDocument/2006/relationships/notesMaster" Target="/ppt/notesMasters/notesMaster1.xml" Id="R1f82ab912e4742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 I’m Shasank. This project turns a vague request into a scope someone can review. I wanted the discussion to expose assumptions and explain why a decision survived criticism. I’ll show the architecture, then the reasoning behind the Proposer, Critic, and Summarizer prompts. Finally, I’ll use a real five-round run to show what the system achieved and where its limits remain.</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https://github.com/kamishas/debate-engines/blob/1563e526b68a763ffd657e93d4b28685ff7714ce/README.md</a:t>
            </a:r>
          </a:p>
          <a:p xmlns:a="http://schemas.openxmlformats.org/drawingml/2006/main">
            <a:r>
              <a:t>https://github.com/kamishas/debate-engines/blob/1563e526b68a763ffd657e93d4b28685ff7714ce/DECISIONS.md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first thought that assigning opposing roles would create a useful debate. In early trials I saw the Proposer accept criticism too readily. Stronger resistance felt aggressive without making the discussion more useful. That led me to focus on reasons: what evidence should change the proposal, and when should a supported defense stand? I also learned that models cannot settle organizational decisions that the input never supplies. Those belong in conditional scope and human questions. These observations do not establish that model age, training, or temperature caused the behavior. I did not run a controlled comparison that would support those claims.</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https://github.com/kamishas/debate-engines/blob/1563e526b68a763ffd657e93d4b28685ff7714ce/DECISIONS.md</a:t>
            </a:r>
          </a:p>
          <a:p xmlns:a="http://schemas.openxmlformats.org/drawingml/2006/main">
            <a:r>
              <a:t>https://github.com/kamishas/debate-engines/blob/1563e526b68a763ffd657e93d4b28685ff7714ce/EVALUATION.md</a:t>
            </a:r>
          </a:p>
          <a:p xmlns:a="http://schemas.openxmlformats.org/drawingml/2006/main">
            <a:r>
              <a:t>https://github.com/kamishas/debate-engines/blob/1563e526b68a763ffd657e93d4b28685ff7714ce/src/deliberation/prompts/proposer.md</a:t>
            </a:r>
          </a:p>
          <a:p xmlns:a="http://schemas.openxmlformats.org/drawingml/2006/main">
            <a:r>
              <a:t>https://github.com/kamishas/debate-engines/blob/1563e526b68a763ffd657e93d4b28685ff7714ce/src/deliberation/prompts/critic.md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keeps responsibilities separate. cli.py reads the request, context, and settings. engine.py maintains accepted dialogue and runs the agents in sequence. The prompt files define different roles, but the same configurable Haiku provider serves all of them. The provider receives a fresh request for each turn with the full accepted dialogue as role-labelled data. Pydantic schemas and validation.py check output structure, active challenge IDs, and reference consistency. termination.py decides whether an accepted Critic signal permits stopping. RunLog writes the inputs, events, metadata, and validated final report. This uses ordinary synchronous Python so a reviewer can follow the entire loop without a framework.</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https://github.com/kamishas/debate-engines/blob/1563e526b68a763ffd657e93d4b28685ff7714ce/src/deliberation/cli.py</a:t>
            </a:r>
          </a:p>
          <a:p xmlns:a="http://schemas.openxmlformats.org/drawingml/2006/main">
            <a:r>
              <a:t>https://github.com/kamishas/debate-engines/blob/1563e526b68a763ffd657e93d4b28685ff7714ce/src/deliberation/engine.py</a:t>
            </a:r>
          </a:p>
          <a:p xmlns:a="http://schemas.openxmlformats.org/drawingml/2006/main">
            <a:r>
              <a:t>https://github.com/kamishas/debate-engines/blob/1563e526b68a763ffd657e93d4b28685ff7714ce/src/deliberation/provider.py</a:t>
            </a:r>
          </a:p>
          <a:p xmlns:a="http://schemas.openxmlformats.org/drawingml/2006/main">
            <a:r>
              <a:t>https://github.com/kamishas/debate-engines/blob/1563e526b68a763ffd657e93d4b28685ff7714ce/src/deliberation/validation.py</a:t>
            </a:r>
          </a:p>
          <a:p xmlns:a="http://schemas.openxmlformats.org/drawingml/2006/main">
            <a:r>
              <a:t>https://github.com/kamishas/debate-engines/blob/1563e526b68a763ffd657e93d4b28685ff7714ce/src/deliberation/logging.py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round consists of an accepted Proposer message followed by an accepted Critic message. Validation and any corrections happen before the message enters the dialogue. Corrections do not count as additional rounds. After the Critic, Python evaluates the stopping conditions. If the discussion continues, the next Proposer receives the accepted history and challenge contract. When discussion stops, the separate Summarizer reads the history and recorded outcome. A validated report becomes final.json. For an execution error, reporting is attempted only when accepted dialogue exists and the remaining resources permit it. A failed report leaves the audit files and report status, rather than a fabricated final document.</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https://github.com/kamishas/debate-engines/blob/1563e526b68a763ffd657e93d4b28685ff7714ce/src/deliberation/engine.py</a:t>
            </a:r>
          </a:p>
          <a:p xmlns:a="http://schemas.openxmlformats.org/drawingml/2006/main">
            <a:r>
              <a:t>https://github.com/kamishas/debate-engines/blob/1563e526b68a763ffd657e93d4b28685ff7714ce/src/deliberation/validation.py</a:t>
            </a:r>
          </a:p>
          <a:p xmlns:a="http://schemas.openxmlformats.org/drawingml/2006/main">
            <a:r>
              <a:t>https://github.com/kamishas/debate-engines/blob/1563e526b68a763ffd657e93d4b28685ff7714ce/src/deliberation/termination.py</a:t>
            </a:r>
          </a:p>
          <a:p xmlns:a="http://schemas.openxmlformats.org/drawingml/2006/main">
            <a:r>
              <a:t>https://github.com/kamishas/debate-engines/blob/1563e526b68a763ffd657e93d4b28685ff7714ce/src/deliberation/logging.py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Proposer needs to make the request concrete enough to criticize. I did not want it to defer every choice, but I also did not want it to invent policy. The prompt separates supplied facts, assumptions, proposed product decisions, and questions for people. Later turns require a reasoned defense, revision, or concession. The exact quote on the slide is there because confident criticism alone should not overturn a justified choice. The prompt also says to accept valid criticism and never manufacture disagreement. A further refinement asks the Proposer to update the whole proposal after a change, because a revised response can otherwise conflict with an old success criterion. These are intended behaviors, and the saved traces remain the evidence of whether the model followed them.</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https://github.com/kamishas/debate-engines/blob/1563e526b68a763ffd657e93d4b28685ff7714ce/src/deliberation/prompts/proposer.md</a:t>
            </a:r>
          </a:p>
          <a:p xmlns:a="http://schemas.openxmlformats.org/drawingml/2006/main">
            <a:r>
              <a:t>https://github.com/kamishas/debate-engines/blob/1563e526b68a763ffd657e93d4b28685ff7714ce/DECISIONS.md</a:t>
            </a:r>
          </a:p>
          <a:p xmlns:a="http://schemas.openxmlformats.org/drawingml/2006/main">
            <a:r>
              <a:t>https://github.com/kamishas/debate-engines/blob/1563e526b68a763ffd657e93d4b28685ff7714ce/EVALUATION.md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Critic should test the proposal, not simply ask for more detail. Each concern needs a target, a concrete consequence, and a resolution that could change the decision. The prompt separates blockers from optional improvements so an interesting suggestion does not automatically expand scope. It also requires the Critic to address previous responses and acknowledge when the acceptance standard has been met. This is the counterpart to the Proposer’s independence: the Critic cannot keep moving the goalposts. A later lesson was that requesting policy documents or stakeholder interviews could keep the agents looping. The prompt now asks what another model exchange can actually resolve with the supplied information. The model may still fail to follow this instruction, which is why the trace matters.</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https://github.com/kamishas/debate-engines/blob/1563e526b68a763ffd657e93d4b28685ff7714ce/src/deliberation/prompts/critic.md</a:t>
            </a:r>
          </a:p>
          <a:p xmlns:a="http://schemas.openxmlformats.org/drawingml/2006/main">
            <a:r>
              <a:t>https://github.com/kamishas/debate-engines/blob/1563e526b68a763ffd657e93d4b28685ff7714ce/DECISIONS.md</a:t>
            </a:r>
          </a:p>
          <a:p xmlns:a="http://schemas.openxmlformats.org/drawingml/2006/main">
            <a:r>
              <a:t>https://github.com/kamishas/debate-engines/blob/1563e526b68a763ffd657e93d4b28685ff7714ce/EVALUATION.md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separated synthesis from deliberation because summarizing an outcome is a different job from defending a proposal. The Summarizer receives the full accepted history, an exact message index, and the recorded stopping facts. It must find actual support for a decision before labelling it agreed. This addresses a failure where an agreed success criterion cited only the Proposer. Conditions must qualify the affected scope instead of appearing as unrelated questions beside an unconditional claim. Another earlier report blamed a first-round rule for a later validation failure. The current payload therefore gives the Summarizer authoritative execution facts and omits the debate-only round instruction. Python supplies the outer run facts. These changes improve the contract, but citations and schema checks still cannot prove every sentence is faithful.</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https://github.com/kamishas/debate-engines/blob/1563e526b68a763ffd657e93d4b28685ff7714ce/src/deliberation/prompts/summarizer.md</a:t>
            </a:r>
          </a:p>
          <a:p xmlns:a="http://schemas.openxmlformats.org/drawingml/2006/main">
            <a:r>
              <a:t>https://github.com/kamishas/debate-engines/blob/1563e526b68a763ffd657e93d4b28685ff7714ce/src/deliberation/engine.py</a:t>
            </a:r>
          </a:p>
          <a:p xmlns:a="http://schemas.openxmlformats.org/drawingml/2006/main">
            <a:r>
              <a:t>https://github.com/kamishas/debate-engines/blob/1563e526b68a763ffd657e93d4b28685ff7714ce/src/deliberation/validation.py</a:t>
            </a:r>
          </a:p>
          <a:p xmlns:a="http://schemas.openxmlformats.org/drawingml/2006/main">
            <a:r>
              <a:t>https://github.com/kamishas/debate-engines/blob/1563e526b68a763ffd657e93d4b28685ff7714ce/EVALUATION.md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completion needs at least two complete Proposer-Critic pairs, so the Proposer has a chance to respond to the initial criticism. Python then requires a valid complete signal with no agreement blockers, or a valid stalled signal with a remaining blocker. The model supplies the substantive judgment and reason. The default eight-round ceiling is a configurable resource guard. A valid completion or stall wins even on that final allowed round. Errors can stop earlier. Fixed rounds alone cannot judge whether further reasoning is useful. A confidence threshold would treat an uncalibrated self-assessment as evidence. Text repetition cannot distinguish a principled defense from a loop. This design makes the judgment inspectable, but it does not guarantee that the Critic always chooses the best stopping time.</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https://github.com/kamishas/debate-engines/blob/1563e526b68a763ffd657e93d4b28685ff7714ce/src/deliberation/termination.py</a:t>
            </a:r>
          </a:p>
          <a:p xmlns:a="http://schemas.openxmlformats.org/drawingml/2006/main">
            <a:r>
              <a:t>https://github.com/kamishas/debate-engines/blob/1563e526b68a763ffd657e93d4b28685ff7714ce/src/deliberation/validation.py</a:t>
            </a:r>
          </a:p>
          <a:p xmlns:a="http://schemas.openxmlformats.org/drawingml/2006/main">
            <a:r>
              <a:t>https://github.com/kamishas/debate-engines/blob/1563e526b68a763ffd657e93d4b28685ff7714ce/src/deliberation/prompts/critic.md</a:t>
            </a:r>
          </a:p>
          <a:p xmlns:a="http://schemas.openxmlformats.org/drawingml/2006/main">
            <a:r>
              <a:t>https://github.com/kamishas/debate-engines/blob/1563e526b68a763ffd657e93d4b28685ff7714ce/README.md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saved execution, not a reconstructed conversation. The run completed five of eight allowed rounds and generated a validated report. Fifteen calls consist of ten accepted debate turns, three Critic repair attempts, and two Summarizer attempts. In round one, the Critic identifies C1 and C2 as blockers. C4 asks how access restrictions should be enforced. In round two, the Proposer specifies filtering before display and the Critic resolves C4 as a design choice contingent on policy. The Proposer continues to defend leaving organizational policy and workflow decisions to people. By round five, the proposal explicitly asks for ownership, timing, parallel-work clarity, and gates. The Critic keeps C1 and C2 unresolved but changes blocks_agreement to false. No actual policy or stakeholder answer has been supplied. The earlier repetitions are a reason to evaluate stopping timing further.</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https://github.com/kamishas/debate-engines/blob/1563e526b68a763ffd657e93d4b28685ff7714ce/runs/20261005T032659Z-164354ee/metadata.json</a:t>
            </a:r>
          </a:p>
          <a:p xmlns:a="http://schemas.openxmlformats.org/drawingml/2006/main">
            <a:r>
              <a:t>https://github.com/kamishas/debate-engines/blob/1563e526b68a763ffd657e93d4b28685ff7714ce/runs/20261005T032659Z-164354ee/transcript.md</a:t>
            </a:r>
          </a:p>
          <a:p xmlns:a="http://schemas.openxmlformats.org/drawingml/2006/main">
            <a:r>
              <a:t>https://github.com/kamishas/debate-engines/blob/1563e526b68a763ffd657e93d4b28685ff7714ce/runs/20261005T032659Z-164354ee/exchanges.jsonl</a:t>
            </a:r>
          </a:p>
          <a:p xmlns:a="http://schemas.openxmlformats.org/drawingml/2006/main">
            <a:r>
              <a:t>https://github.com/kamishas/debate-engines/blob/1563e526b68a763ffd657e93d4b28685ff7714ce/EVALUATION.md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document separates scope, assumptions, conditions, success criteria, and questions requiring human input. C4 is a strong example of preserved tension. The included-scope reason names the concern, the proposed enforcement mechanism, and the Critic’s acceptance. It cites the actual messages. Authorization and workflow decisions remain in conditional_scope and open_human_questions with consequences and implementation-blocking flags. Empty disputed_scope and unresolved_scope arrays do not imply that all dependencies are settled. The report’s usefulness comes from the boundaries and reasoning, but its wording is not fully consistent. For example, one workflow explanation says parallel design can proceed while the associated question still asks whether it may proceed. The first success criterion also needs qualification around authorization. Schema validity and existing message references cannot by themselves establish semantic fidelity.</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https://github.com/kamishas/debate-engines/blob/1563e526b68a763ffd657e93d4b28685ff7714ce/runs/20261005T032659Z-164354ee/final.json</a:t>
            </a:r>
          </a:p>
          <a:p xmlns:a="http://schemas.openxmlformats.org/drawingml/2006/main">
            <a:r>
              <a:t>https://github.com/kamishas/debate-engines/blob/1563e526b68a763ffd657e93d4b28685ff7714ce/runs/20261005T032659Z-164354ee/transcript.md</a:t>
            </a:r>
          </a:p>
          <a:p xmlns:a="http://schemas.openxmlformats.org/drawingml/2006/main">
            <a:r>
              <a:t>https://github.com/kamishas/debate-engines/blob/1563e526b68a763ffd657e93d4b28685ff7714ce/src/deliberation/validation.py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bonus asks for confidence scoring or a disagreement delta. This implementation takes the confidence option. Each agent rates grounding, scope clarity, assumptions and dependencies, testability, and treatment of material concerns. The requested score is five times the sum, capped at sixty when an agreement blocker remains. Python checks an integer in the allowed range and the required explanatory fields. It does not recompute the score or enforce the cap. In the final run, the Proposer lists five ratings of three, which would total seventy-five, but reports seventy-two. The Critic lists three, four, three, four, three, which would total eighty-five, but reports seventy-six. I preserve these actual outputs rather than silently fixing the evidence. The explanations surface uncertainty, but neither score is a calibrated probability or a validated disagreement measure.</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https://github.com/kamishas/debate-engines/blob/1563e526b68a763ffd657e93d4b28685ff7714ce/src/deliberation/prompts/proposer.md</a:t>
            </a:r>
          </a:p>
          <a:p xmlns:a="http://schemas.openxmlformats.org/drawingml/2006/main">
            <a:r>
              <a:t>https://github.com/kamishas/debate-engines/blob/1563e526b68a763ffd657e93d4b28685ff7714ce/src/deliberation/prompts/critic.md</a:t>
            </a:r>
          </a:p>
          <a:p xmlns:a="http://schemas.openxmlformats.org/drawingml/2006/main">
            <a:r>
              <a:t>https://github.com/kamishas/debate-engines/blob/1563e526b68a763ffd657e93d4b28685ff7714ce/src/deliberation/schemas.py</a:t>
            </a:r>
          </a:p>
          <a:p xmlns:a="http://schemas.openxmlformats.org/drawingml/2006/main">
            <a:r>
              <a:t>https://github.com/kamishas/debate-engines/blob/1563e526b68a763ffd657e93d4b28685ff7714ce/runs/20261005T032659Z-164354ee/final.json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kept the orchestration small because a framework would not remove the need to define these rules. A synchronous loop is easy to inspect but limits throughput. Full dialogue preserves the reasoning history, while input size and cost grow with each round. Strict contracts catch real errors, such as a challenge appearing as both resolved and outstanding, but failed repairs can consume calls that reporting needs. Separating the Summarizer clarifies its job but creates another source of model error. With more time I would create at least a hundred varied scenarios and keep a held-out evaluation set. I would change one prompt or parameter at a time, measuring unnecessary concessions, repeated objections, stopping timing, report fidelity, and calls used. Fine-tuning a suitable model would be a later option only if evaluated prompting changes were insufficient.</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https://github.com/kamishas/debate-engines/blob/1563e526b68a763ffd657e93d4b28685ff7714ce/DECISIONS.md</a:t>
            </a:r>
          </a:p>
          <a:p xmlns:a="http://schemas.openxmlformats.org/drawingml/2006/main">
            <a:r>
              <a:t>https://github.com/kamishas/debate-engines/blob/1563e526b68a763ffd657e93d4b28685ff7714ce/src/deliberation/engine.py</a:t>
            </a:r>
          </a:p>
          <a:p xmlns:a="http://schemas.openxmlformats.org/drawingml/2006/main">
            <a:r>
              <a:t>https://github.com/kamishas/debate-engines/blob/1563e526b68a763ffd657e93d4b28685ff7714ce/EVALUATION.md</a:t>
            </a:r>
          </a:p>
          <a:p xmlns:a="http://schemas.openxmlformats.org/drawingml/2006/main">
            <a:r>
              <a:t>https://github.com/kamishas/debate-engines/blob/1563e526b68a763ffd657e93d4b28685ff7714ce/README.md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maps the assessment capabilities to concrete evidence. The normal minimum is two accepted rounds, and this saved run has five. The structured final report includes the required scope, assumptions, and questions. Completion depends on a Critic signal with consistent blockers rather than a round cap alone. The CLI supports replacing inputs without code changes. The three prompts are separate readable files. The Summarizer and self-reported confidence implement the two optional bonuses. These capabilities are distinct from claiming a perfect score on the evaluation criteria. Prompt quality and stopping judgment need trace review, and report fidelity remains a limitation. The design narrative discusses the reasons, failures, and future evaluation plan. The README documents alternatives to the termination strategy.</a:t>
            </a:r>
          </a:p>
          <a:p xmlns:a="http://schemas.openxmlformats.org/drawingml/2006/main">
            <a:r>
              <a:t/>
            </a:r>
          </a:p>
          <a:p xmlns:a="http://schemas.openxmlformats.org/drawingml/2006/main">
            <a:r>
              <a:t>Sources</a:t>
            </a:r>
          </a:p>
          <a:p xmlns:a="http://schemas.openxmlformats.org/drawingml/2006/main">
            <a:r>
              <a:t>https://github.com/kamishas/debate-engines/blob/1563e526b68a763ffd657e93d4b28685ff7714ce/README.md</a:t>
            </a:r>
          </a:p>
          <a:p xmlns:a="http://schemas.openxmlformats.org/drawingml/2006/main">
            <a:r>
              <a:t>https://github.com/kamishas/debate-engines/blob/1563e526b68a763ffd657e93d4b28685ff7714ce/src/deliberation/cli.py</a:t>
            </a:r>
          </a:p>
          <a:p xmlns:a="http://schemas.openxmlformats.org/drawingml/2006/main">
            <a:r>
              <a:t>https://github.com/kamishas/debate-engines/blob/1563e526b68a763ffd657e93d4b28685ff7714ce/src/deliberation/termination.py</a:t>
            </a:r>
          </a:p>
          <a:p xmlns:a="http://schemas.openxmlformats.org/drawingml/2006/main">
            <a:r>
              <a:t>https://github.com/kamishas/debate-engines/blob/1563e526b68a763ffd657e93d4b28685ff7714ce/runs/20261005T032659Z-164354ee/transcript.md</a:t>
            </a:r>
          </a:p>
          <a:p xmlns:a="http://schemas.openxmlformats.org/drawingml/2006/main">
            <a:r>
              <a:t>https://github.com/kamishas/debate-engines/blob/1563e526b68a763ffd657e93d4b28685ff7714ce/runs/20261005T032659Z-164354ee/final.json</a:t>
            </a:r>
          </a:p>
          <a:p xmlns:a="http://schemas.openxmlformats.org/drawingml/2006/main">
            <a:r>
              <a:t>C:/Users/kamin/Downloads/ai_engineer_assessment (1).pdf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contains the implementation, prompt files, run traces, reports, and evaluation record. The two recorded demos show the project walkthrough and live execution. I would use the recent engagement-history run as the main example and the earlier failures as regression cases. My goal was a small, inspectable system whose outputs explain both the decision and the remaining uncertainty. The next improvement should come from broader evaluation of agent behavior and report fidelity.</a:t>
            </a:r>
          </a:p>
          <a:p xmlns:a="http://schemas.openxmlformats.org/drawingml/2006/main">
            <a:r>
              <a:t/>
            </a:r>
          </a:p>
          <a:p xmlns:a="http://schemas.openxmlformats.org/drawingml/2006/main">
            <a:r>
              <a:t>Sources</a:t>
            </a:r>
          </a:p>
          <a:p xmlns:a="http://schemas.openxmlformats.org/drawingml/2006/main">
            <a:r>
              <a:t>https://github.com/kamishas/debate-engines</a:t>
            </a:r>
          </a:p>
          <a:p xmlns:a="http://schemas.openxmlformats.org/drawingml/2006/main">
            <a:r>
              <a:t>https://github.com/kamishas/debate-engines/releases/tag/demo-walkthrough-2026-10-05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7a10c22cb846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330cbdeea147ba" /><Relationship Type="http://schemas.openxmlformats.org/officeDocument/2006/relationships/slideLayout" Target="/ppt/slideLayouts/slideLayout1.xml" Id="R0120aea19ce046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20aea19ce046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914d8460304440" /><Relationship Type="http://schemas.openxmlformats.org/officeDocument/2006/relationships/notesSlide" Target="/ppt/notesSlides/notesSlide1.xml" Id="Rb7f0c2ce035343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c40a634fe04f72" /><Relationship Type="http://schemas.openxmlformats.org/officeDocument/2006/relationships/notesSlide" Target="/ppt/notesSlides/notesSlide2.xml" Id="R49e695fcd7fd49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011e26bd15450f" /><Relationship Type="http://schemas.openxmlformats.org/officeDocument/2006/relationships/notesSlide" Target="/ppt/notesSlides/notesSlide3.xml" Id="R83e0a0a25a084b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35d5cd9a0a49f4" /><Relationship Type="http://schemas.openxmlformats.org/officeDocument/2006/relationships/notesSlide" Target="/ppt/notesSlides/notesSlide4.xml" Id="R4506420bd9484b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257650e61504582" /><Relationship Type="http://schemas.openxmlformats.org/officeDocument/2006/relationships/hyperlink" Target="https://github.com/kamishas/debate-engines/blob/1563e526b68a763ffd657e93d4b28685ff7714ce/src/deliberation/prompts/proposer.md" TargetMode="External" Id="R6bf0d94fcf154178" /><Relationship Type="http://schemas.openxmlformats.org/officeDocument/2006/relationships/notesSlide" Target="/ppt/notesSlides/notesSlide5.xml" Id="Rb817b0bc1ee746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c8a57093fd46d1" /><Relationship Type="http://schemas.openxmlformats.org/officeDocument/2006/relationships/hyperlink" Target="https://github.com/kamishas/debate-engines/blob/1563e526b68a763ffd657e93d4b28685ff7714ce/src/deliberation/prompts/critic.md" TargetMode="External" Id="R47a4b942882f49b3" /><Relationship Type="http://schemas.openxmlformats.org/officeDocument/2006/relationships/notesSlide" Target="/ppt/notesSlides/notesSlide6.xml" Id="Rfaf1a41d9e274d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52ba3d958e4502" /><Relationship Type="http://schemas.openxmlformats.org/officeDocument/2006/relationships/hyperlink" Target="https://github.com/kamishas/debate-engines/blob/1563e526b68a763ffd657e93d4b28685ff7714ce/src/deliberation/prompts/summarizer.md" TargetMode="External" Id="R5b4446dbbe524135" /><Relationship Type="http://schemas.openxmlformats.org/officeDocument/2006/relationships/notesSlide" Target="/ppt/notesSlides/notesSlide7.xml" Id="Rd4c2354b730641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0db29fee6d4b03" /><Relationship Type="http://schemas.openxmlformats.org/officeDocument/2006/relationships/notesSlide" Target="/ppt/notesSlides/notesSlide8.xml" Id="R30e2f6b36a2047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c106378a9c349a1" /><Relationship Type="http://schemas.openxmlformats.org/officeDocument/2006/relationships/notesSlide" Target="/ppt/notesSlides/notesSlide9.xml" Id="R86b480d1978d4b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8b5044a8ee34f83" /><Relationship Type="http://schemas.openxmlformats.org/officeDocument/2006/relationships/notesSlide" Target="/ppt/notesSlides/notesSlide10.xml" Id="Rdf73785de34148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397caf70614bca" /><Relationship Type="http://schemas.openxmlformats.org/officeDocument/2006/relationships/notesSlide" Target="/ppt/notesSlides/notesSlide11.xml" Id="R4ed09ff5393f4a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fdd7d160ef4f60" /><Relationship Type="http://schemas.openxmlformats.org/officeDocument/2006/relationships/notesSlide" Target="/ppt/notesSlides/notesSlide12.xml" Id="Rbf9ec60f98844b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99cdc1d7640416f" /><Relationship Type="http://schemas.openxmlformats.org/officeDocument/2006/relationships/notesSlide" Target="/ppt/notesSlides/notesSlide13.xml" Id="Rd444da8af73641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cb809572f66495e" /><Relationship Type="http://schemas.openxmlformats.org/officeDocument/2006/relationships/hyperlink" Target="https://github.com/kamishas/debate-engines" TargetMode="External" Id="Re43a08512acd4fef" /><Relationship Type="http://schemas.openxmlformats.org/officeDocument/2006/relationships/hyperlink" Target="https://github.com/kamishas/debate-engines/releases/download/demo-walkthrough-2026-10-05/Quick.Project.Walkthrough.Prompts.for.agent.Quick.Justification.mp4" TargetMode="External" Id="Raf7b25d2bbe245cd" /><Relationship Type="http://schemas.openxmlformats.org/officeDocument/2006/relationships/hyperlink" Target="https://github.com/kamishas/debate-engines/releases/download/demo-walkthrough-2026-10-05/Quick.Live.Demo.Execution.with.Results.mp4" TargetMode="External" Id="Rae23e3f2697e449d" /><Relationship Type="http://schemas.openxmlformats.org/officeDocument/2006/relationships/notesSlide" Target="/ppt/notesSlides/notesSlide14.xml" Id="Ra6cd75ce81144040" /></Relationships>
</file>

<file path=ppt/slides/slide1.xml><?xml version="1.0" encoding="utf-8"?>
<p:sld xmlns:p="http://schemas.openxmlformats.org/presentationml/2006/main">
  <p:cSld>
    <p:bg>
      <p:bgPr>
        <a:solidFill xmlns:a="http://schemas.openxmlformats.org/drawingml/2006/main">
          <a:srgbClr val="122B3A"/>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F32108D5-DD05-422F-AB44-1C9F6B3C8071}"/>
              </a:ext>
            </a:extLst>
          </p:cNvPr>
          <p:cNvSpPr>
            <a:spLocks xmlns:a="http://schemas.openxmlformats.org/drawingml/2006/main" noGrp="1"/>
          </p:cNvSpPr>
          <p:nvPr/>
        </p:nvSpPr>
        <p:spPr>
          <a:xfrm xmlns:a="http://schemas.openxmlformats.org/drawingml/2006/main">
            <a:off x="666750" y="1238250"/>
            <a:ext cx="10287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0" b="1">
                <a:solidFill>
                  <a:srgbClr val="FFFFFF"/>
                </a:solidFill>
                <a:latin typeface="Arial"/>
                <a:ea typeface="Arial"/>
                <a:cs typeface="Arial"/>
              </a:defRPr>
            </a:pPr>
            <a:r>
              <a:rPr sz="6750" b="1">
                <a:solidFill>
                  <a:srgbClr val="FFFFFF"/>
                </a:solidFill>
                <a:latin typeface="Arial"/>
                <a:ea typeface="Arial"/>
                <a:cs typeface="Arial"/>
              </a:rPr>
              <a:t>Debate</a:t>
            </a:r>
          </a:p>
          <a:p xmlns:a="http://schemas.openxmlformats.org/drawingml/2006/main">
            <a:pPr algn="l">
              <a:defRPr sz="6750" b="1">
                <a:solidFill>
                  <a:srgbClr val="FFFFFF"/>
                </a:solidFill>
                <a:latin typeface="Arial"/>
                <a:ea typeface="Arial"/>
                <a:cs typeface="Arial"/>
              </a:defRPr>
            </a:pPr>
            <a:r>
              <a:rPr sz="6750" b="1">
                <a:solidFill>
                  <a:srgbClr val="FFFFFF"/>
                </a:solidFill>
                <a:latin typeface="Arial"/>
                <a:ea typeface="Arial"/>
                <a:cs typeface="Arial"/>
              </a:rPr>
              <a:t>Engines</a:t>
            </a:r>
          </a:p>
        </p:txBody>
      </p:sp>
      <p:sp>
        <p:nvSpPr>
          <p:cNvPr id="2" name="text-2">
            <a:extLst xmlns:a="http://schemas.openxmlformats.org/drawingml/2006/main">
              <a:ext uri="{FF2B5EF4-FFF2-40B4-BE49-F238E27FC236}">
                <a16:creationId xmlns:a16="http://schemas.microsoft.com/office/drawing/2014/main" id="{CDF16733-9DCA-4179-8FC2-4AA0BE123694}"/>
              </a:ext>
            </a:extLst>
          </p:cNvPr>
          <p:cNvSpPr>
            <a:spLocks xmlns:a="http://schemas.openxmlformats.org/drawingml/2006/main" noGrp="1"/>
          </p:cNvSpPr>
          <p:nvPr/>
        </p:nvSpPr>
        <p:spPr>
          <a:xfrm xmlns:a="http://schemas.openxmlformats.org/drawingml/2006/main">
            <a:off x="714375" y="3667125"/>
            <a:ext cx="962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D7EC9E"/>
                </a:solidFill>
                <a:latin typeface="Arial"/>
                <a:ea typeface="Arial"/>
                <a:cs typeface="Arial"/>
              </a:defRPr>
            </a:pPr>
            <a:r>
              <a:rPr sz="2850" b="0">
                <a:solidFill>
                  <a:srgbClr val="D7EC9E"/>
                </a:solidFill>
                <a:latin typeface="Arial"/>
                <a:ea typeface="Arial"/>
                <a:cs typeface="Arial"/>
              </a:rPr>
              <a:t>Architecture and the reasoning</a:t>
            </a:r>
          </a:p>
          <a:p xmlns:a="http://schemas.openxmlformats.org/drawingml/2006/main">
            <a:pPr algn="l">
              <a:defRPr sz="2850" b="0">
                <a:solidFill>
                  <a:srgbClr val="D7EC9E"/>
                </a:solidFill>
                <a:latin typeface="Arial"/>
                <a:ea typeface="Arial"/>
                <a:cs typeface="Arial"/>
              </a:defRPr>
            </a:pPr>
            <a:r>
              <a:rPr sz="2850" b="0">
                <a:solidFill>
                  <a:srgbClr val="D7EC9E"/>
                </a:solidFill>
                <a:latin typeface="Arial"/>
                <a:ea typeface="Arial"/>
                <a:cs typeface="Arial"/>
              </a:rPr>
              <a:t>behind three agent prompts</a:t>
            </a:r>
          </a:p>
        </p:txBody>
      </p:sp>
      <p:sp>
        <p:nvSpPr>
          <p:cNvPr id="3" name="text-3">
            <a:extLst xmlns:a="http://schemas.openxmlformats.org/drawingml/2006/main">
              <a:ext uri="{FF2B5EF4-FFF2-40B4-BE49-F238E27FC236}">
                <a16:creationId xmlns:a16="http://schemas.microsoft.com/office/drawing/2014/main" id="{F08D4284-84F0-428A-BC65-1CF5606ABB8F}"/>
              </a:ext>
            </a:extLst>
          </p:cNvPr>
          <p:cNvSpPr>
            <a:spLocks xmlns:a="http://schemas.openxmlformats.org/drawingml/2006/main" noGrp="1"/>
          </p:cNvSpPr>
          <p:nvPr/>
        </p:nvSpPr>
        <p:spPr>
          <a:xfrm xmlns:a="http://schemas.openxmlformats.org/drawingml/2006/main">
            <a:off x="723900" y="57912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Shasank Kamineni</a:t>
            </a:r>
          </a:p>
        </p:txBody>
      </p:sp>
      <p:sp>
        <p:nvSpPr>
          <p:cNvPr id="4" name="text-4">
            <a:extLst xmlns:a="http://schemas.openxmlformats.org/drawingml/2006/main">
              <a:ext uri="{FF2B5EF4-FFF2-40B4-BE49-F238E27FC236}">
                <a16:creationId xmlns:a16="http://schemas.microsoft.com/office/drawing/2014/main" id="{DBED75AE-BD7B-458C-A0FD-2332FF6B4551}"/>
              </a:ext>
            </a:extLst>
          </p:cNvPr>
          <p:cNvSpPr>
            <a:spLocks xmlns:a="http://schemas.openxmlformats.org/drawingml/2006/main" noGrp="1"/>
          </p:cNvSpPr>
          <p:nvPr/>
        </p:nvSpPr>
        <p:spPr>
          <a:xfrm xmlns:a="http://schemas.openxmlformats.org/drawingml/2006/main">
            <a:off x="8905875" y="585787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BFD0D8"/>
                </a:solidFill>
                <a:latin typeface="Arial"/>
                <a:ea typeface="Arial"/>
                <a:cs typeface="Arial"/>
              </a:defRPr>
            </a:pPr>
            <a:r>
              <a:rPr sz="1725" b="0">
                <a:solidFill>
                  <a:srgbClr val="BFD0D8"/>
                </a:solidFill>
                <a:latin typeface="Arial"/>
                <a:ea typeface="Arial"/>
                <a:cs typeface="Arial"/>
              </a:rPr>
              <a:t>October 2026</a:t>
            </a:r>
          </a:p>
        </p:txBody>
      </p:sp>
    </p:spTree>
    <p:extLst>
      <p:ext uri="{BB962C8B-B14F-4D97-AF65-F5344CB8AC3E}">
        <p14:creationId xmlns:p14="http://schemas.microsoft.com/office/powerpoint/2010/main" val="1226602462"/>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text-5">
            <a:extLst xmlns:a="http://schemas.openxmlformats.org/drawingml/2006/main">
              <a:ext uri="{FF2B5EF4-FFF2-40B4-BE49-F238E27FC236}">
                <a16:creationId xmlns:a16="http://schemas.microsoft.com/office/drawing/2014/main" id="{A472AD9A-CD97-41AB-BE20-848D9D487715}"/>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B3A"/>
                </a:solidFill>
                <a:latin typeface="Arial"/>
                <a:ea typeface="Arial"/>
                <a:cs typeface="Arial"/>
              </a:defRPr>
            </a:pPr>
            <a:r>
              <a:rPr sz="3450" b="1">
                <a:solidFill>
                  <a:srgbClr val="122B3A"/>
                </a:solidFill>
                <a:latin typeface="Arial"/>
                <a:ea typeface="Arial"/>
                <a:cs typeface="Arial"/>
              </a:rPr>
              <a:t>The design lesson</a:t>
            </a:r>
          </a:p>
        </p:txBody>
      </p:sp>
      <p:sp>
        <p:nvSpPr>
          <p:cNvPr id="2" name="text-6">
            <a:extLst xmlns:a="http://schemas.openxmlformats.org/drawingml/2006/main">
              <a:ext uri="{FF2B5EF4-FFF2-40B4-BE49-F238E27FC236}">
                <a16:creationId xmlns:a16="http://schemas.microsoft.com/office/drawing/2014/main" id="{527046A9-599E-4573-AE9E-68CF075FE104}"/>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26571"/>
                </a:solidFill>
                <a:latin typeface="Arial"/>
                <a:ea typeface="Arial"/>
                <a:cs typeface="Arial"/>
              </a:defRPr>
            </a:pPr>
            <a:r>
              <a:rPr sz="1500" b="0">
                <a:solidFill>
                  <a:srgbClr val="526571"/>
                </a:solidFill>
                <a:latin typeface="Arial"/>
                <a:ea typeface="Arial"/>
                <a:cs typeface="Arial"/>
              </a:rPr>
              <a:t>02</a:t>
            </a:r>
          </a:p>
        </p:txBody>
      </p:sp>
      <p:sp>
        <p:nvSpPr>
          <p:cNvPr id="3" name="text-7">
            <a:extLst xmlns:a="http://schemas.openxmlformats.org/drawingml/2006/main">
              <a:ext uri="{FF2B5EF4-FFF2-40B4-BE49-F238E27FC236}">
                <a16:creationId xmlns:a16="http://schemas.microsoft.com/office/drawing/2014/main" id="{1A8ACF4B-13D6-4230-9412-87CC7F34ACD4}"/>
              </a:ext>
            </a:extLst>
          </p:cNvPr>
          <p:cNvSpPr>
            <a:spLocks xmlns:a="http://schemas.openxmlformats.org/drawingml/2006/main" noGrp="1"/>
          </p:cNvSpPr>
          <p:nvPr/>
        </p:nvSpPr>
        <p:spPr>
          <a:xfrm xmlns:a="http://schemas.openxmlformats.org/drawingml/2006/main">
            <a:off x="647700" y="1590675"/>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22B3A"/>
                </a:solidFill>
                <a:latin typeface="Arial"/>
                <a:ea typeface="Arial"/>
                <a:cs typeface="Arial"/>
              </a:defRPr>
            </a:pPr>
            <a:r>
              <a:rPr sz="3825" b="1">
                <a:solidFill>
                  <a:srgbClr val="122B3A"/>
                </a:solidFill>
                <a:latin typeface="Arial"/>
                <a:ea typeface="Arial"/>
                <a:cs typeface="Arial"/>
              </a:rPr>
              <a:t>Every change of position</a:t>
            </a:r>
          </a:p>
          <a:p xmlns:a="http://schemas.openxmlformats.org/drawingml/2006/main">
            <a:pPr algn="l">
              <a:defRPr sz="3825" b="1">
                <a:solidFill>
                  <a:srgbClr val="122B3A"/>
                </a:solidFill>
                <a:latin typeface="Arial"/>
                <a:ea typeface="Arial"/>
                <a:cs typeface="Arial"/>
              </a:defRPr>
            </a:pPr>
            <a:r>
              <a:rPr sz="3825" b="1">
                <a:solidFill>
                  <a:srgbClr val="122B3A"/>
                </a:solidFill>
                <a:latin typeface="Arial"/>
                <a:ea typeface="Arial"/>
                <a:cs typeface="Arial"/>
              </a:rPr>
              <a:t>needs a reason.</a:t>
            </a:r>
          </a:p>
        </p:txBody>
      </p:sp>
      <p:graphicFrame>
        <p:nvGraphicFramePr>
          <p:cNvPr id="9" name=""/>
          <p:cNvGraphicFramePr/>
          <p:nvPr/>
        </p:nvGraphicFramePr>
        <p:xfrm>
          <a:off xmlns:a="http://schemas.openxmlformats.org/drawingml/2006/main" x="619125" y="3238500"/>
          <a:ext xmlns:a="http://schemas.openxmlformats.org/drawingml/2006/main" cx="10934700" cy="2343150"/>
        </p:xfrm>
        <a:graphic xmlns:a="http://schemas.openxmlformats.org/drawingml/2006/main">
          <a:graphicData uri="http://schemas.openxmlformats.org/drawingml/2006/table">
            <a:tbl>
              <a:tblPr/>
              <a:tblGrid>
                <a:gridCol w="5219700"/>
                <a:gridCol w="5715000"/>
              </a:tblGrid>
              <a:tr h="585788">
                <a:tc>
                  <a:txBody>
                    <a:bodyPr lIns="142875" tIns="95250" rIns="142875" bIns="95250">
                      <a:noAutofit/>
                    </a:bodyPr>
                    <a:lstStyle/>
                    <a:p>
                      <a:pPr algn="l"/>
                      <a:r>
                        <a:rPr sz="1875" b="1">
                          <a:solidFill>
                            <a:srgbClr val="FFFFFF"/>
                          </a:solidFill>
                          <a:latin typeface="Arial"/>
                          <a:ea typeface="Arial"/>
                          <a:cs typeface="Arial"/>
                        </a:rPr>
                        <a:t>What I noticed</a:t>
                      </a:r>
                    </a:p>
                  </a:txBody>
                  <a:tcPr marL="91440" marR="91440" marT="45720" marB="45720" anchor="ctr">
                    <a:solidFill>
                      <a:srgbClr val="122B3A"/>
                    </a:solidFill>
                  </a:tcPr>
                </a:tc>
                <a:tc>
                  <a:txBody>
                    <a:bodyPr lIns="142875" tIns="95250" rIns="142875" bIns="95250">
                      <a:noAutofit/>
                    </a:bodyPr>
                    <a:lstStyle/>
                    <a:p>
                      <a:pPr algn="l"/>
                      <a:r>
                        <a:rPr sz="1875" b="1">
                          <a:solidFill>
                            <a:srgbClr val="FFFFFF"/>
                          </a:solidFill>
                          <a:latin typeface="Arial"/>
                          <a:ea typeface="Arial"/>
                          <a:cs typeface="Arial"/>
                        </a:rPr>
                        <a:t>What the design asks for</a:t>
                      </a:r>
                    </a:p>
                  </a:txBody>
                  <a:tcPr marL="91440" marR="91440" marT="45720" marB="45720" anchor="ctr">
                    <a:solidFill>
                      <a:srgbClr val="122B3A"/>
                    </a:solidFill>
                  </a:tcPr>
                </a:tc>
              </a:tr>
              <a:tr h="585788">
                <a:tc>
                  <a:txBody>
                    <a:bodyPr lIns="142875" tIns="95250" rIns="142875" bIns="95250">
                      <a:noAutofit/>
                    </a:bodyPr>
                    <a:lstStyle/>
                    <a:p>
                      <a:pPr algn="l"/>
                      <a:r>
                        <a:rPr sz="1875" b="0">
                          <a:solidFill>
                            <a:srgbClr val="122B3A"/>
                          </a:solidFill>
                          <a:latin typeface="Arial"/>
                          <a:ea typeface="Arial"/>
                          <a:cs typeface="Arial"/>
                        </a:rPr>
                        <a:t>Easy agreement could hide weak reasoning</a:t>
                      </a:r>
                    </a:p>
                  </a:txBody>
                  <a:tcPr marL="91440" marR="91440" marT="45720" marB="45720" anchor="ctr">
                    <a:solidFill>
                      <a:srgbClr val="FFFFFF"/>
                    </a:solidFill>
                  </a:tcPr>
                </a:tc>
                <a:tc>
                  <a:txBody>
                    <a:bodyPr lIns="142875" tIns="95250" rIns="142875" bIns="95250">
                      <a:noAutofit/>
                    </a:bodyPr>
                    <a:lstStyle/>
                    <a:p>
                      <a:pPr algn="l"/>
                      <a:r>
                        <a:rPr sz="1875" b="0">
                          <a:solidFill>
                            <a:srgbClr val="122B3A"/>
                          </a:solidFill>
                          <a:latin typeface="Arial"/>
                          <a:ea typeface="Arial"/>
                          <a:cs typeface="Arial"/>
                        </a:rPr>
                        <a:t>A justified defense, revision, or concession</a:t>
                      </a:r>
                    </a:p>
                  </a:txBody>
                  <a:tcPr marL="91440" marR="91440" marT="45720" marB="45720" anchor="ctr">
                    <a:solidFill>
                      <a:srgbClr val="FFFFFF"/>
                    </a:solidFill>
                  </a:tcPr>
                </a:tc>
              </a:tr>
              <a:tr h="585788">
                <a:tc>
                  <a:txBody>
                    <a:bodyPr lIns="142875" tIns="95250" rIns="142875" bIns="95250">
                      <a:noAutofit/>
                    </a:bodyPr>
                    <a:lstStyle/>
                    <a:p>
                      <a:pPr algn="l"/>
                      <a:r>
                        <a:rPr sz="1875" b="0">
                          <a:solidFill>
                            <a:srgbClr val="122B3A"/>
                          </a:solidFill>
                          <a:latin typeface="Arial"/>
                          <a:ea typeface="Arial"/>
                          <a:cs typeface="Arial"/>
                        </a:rPr>
                        <a:t>Stronger resistance felt unhelpful</a:t>
                      </a:r>
                    </a:p>
                  </a:txBody>
                  <a:tcPr marL="91440" marR="91440" marT="45720" marB="45720" anchor="ctr">
                    <a:solidFill>
                      <a:srgbClr val="EEF1EF"/>
                    </a:solidFill>
                  </a:tcPr>
                </a:tc>
                <a:tc>
                  <a:txBody>
                    <a:bodyPr lIns="142875" tIns="95250" rIns="142875" bIns="95250">
                      <a:noAutofit/>
                    </a:bodyPr>
                    <a:lstStyle/>
                    <a:p>
                      <a:pPr algn="l"/>
                      <a:r>
                        <a:rPr sz="1875" b="0">
                          <a:solidFill>
                            <a:srgbClr val="122B3A"/>
                          </a:solidFill>
                          <a:latin typeface="Arial"/>
                          <a:ea typeface="Arial"/>
                          <a:cs typeface="Arial"/>
                        </a:rPr>
                        <a:t>Specific criticism and justified acceptance</a:t>
                      </a:r>
                    </a:p>
                  </a:txBody>
                  <a:tcPr marL="91440" marR="91440" marT="45720" marB="45720" anchor="ctr">
                    <a:solidFill>
                      <a:srgbClr val="EEF1EF"/>
                    </a:solidFill>
                  </a:tcPr>
                </a:tc>
              </a:tr>
              <a:tr h="585788">
                <a:tc>
                  <a:txBody>
                    <a:bodyPr lIns="142875" tIns="95250" rIns="142875" bIns="95250">
                      <a:noAutofit/>
                    </a:bodyPr>
                    <a:lstStyle/>
                    <a:p>
                      <a:pPr algn="l"/>
                      <a:r>
                        <a:rPr sz="1875" b="0">
                          <a:solidFill>
                            <a:srgbClr val="122B3A"/>
                          </a:solidFill>
                          <a:latin typeface="Arial"/>
                          <a:ea typeface="Arial"/>
                          <a:cs typeface="Arial"/>
                        </a:rPr>
                        <a:t>Missing policy prolonged the discussion</a:t>
                      </a:r>
                    </a:p>
                  </a:txBody>
                  <a:tcPr marL="91440" marR="91440" marT="45720" marB="45720" anchor="ctr">
                    <a:solidFill>
                      <a:srgbClr val="FFFFFF"/>
                    </a:solidFill>
                  </a:tcPr>
                </a:tc>
                <a:tc>
                  <a:txBody>
                    <a:bodyPr lIns="142875" tIns="95250" rIns="142875" bIns="95250">
                      <a:noAutofit/>
                    </a:bodyPr>
                    <a:lstStyle/>
                    <a:p>
                      <a:pPr algn="l"/>
                      <a:r>
                        <a:rPr sz="1875" b="0">
                          <a:solidFill>
                            <a:srgbClr val="122B3A"/>
                          </a:solidFill>
                          <a:latin typeface="Arial"/>
                          <a:ea typeface="Arial"/>
                          <a:cs typeface="Arial"/>
                        </a:rPr>
                        <a:t>Explicit conditions and decisions for people</a:t>
                      </a:r>
                    </a:p>
                  </a:txBody>
                  <a:tcPr marL="91440" marR="91440" marT="45720" marB="45720" anchor="ctr">
                    <a:solidFill>
                      <a:srgbClr val="FFFFFF"/>
                    </a:solidFill>
                  </a:tcPr>
                </a:tc>
              </a:tr>
            </a:tbl>
          </a:graphicData>
        </a:graphic>
      </p:graphicFrame>
      <p:sp>
        <p:nvSpPr>
          <p:cNvPr id="5" name="text-8">
            <a:extLst xmlns:a="http://schemas.openxmlformats.org/drawingml/2006/main">
              <a:ext uri="{FF2B5EF4-FFF2-40B4-BE49-F238E27FC236}">
                <a16:creationId xmlns:a16="http://schemas.microsoft.com/office/drawing/2014/main" id="{9F027ABF-54BA-4817-B5A6-85CE1A1B82A6}"/>
              </a:ext>
            </a:extLst>
          </p:cNvPr>
          <p:cNvSpPr>
            <a:spLocks xmlns:a="http://schemas.openxmlformats.org/drawingml/2006/main" noGrp="1"/>
          </p:cNvSpPr>
          <p:nvPr/>
        </p:nvSpPr>
        <p:spPr>
          <a:xfrm xmlns:a="http://schemas.openxmlformats.org/drawingml/2006/main">
            <a:off x="647700" y="59531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1"/>
                </a:solidFill>
                <a:latin typeface="Arial"/>
                <a:ea typeface="Arial"/>
                <a:cs typeface="Arial"/>
              </a:defRPr>
            </a:pPr>
            <a:r>
              <a:rPr sz="1800" b="0">
                <a:solidFill>
                  <a:srgbClr val="526571"/>
                </a:solidFill>
                <a:latin typeface="Arial"/>
                <a:ea typeface="Arial"/>
                <a:cs typeface="Arial"/>
              </a:rPr>
              <a:t>These were observations from development runs, not controlled comparisons.</a:t>
            </a:r>
          </a:p>
        </p:txBody>
      </p:sp>
    </p:spTree>
    <p:extLst>
      <p:ext uri="{BB962C8B-B14F-4D97-AF65-F5344CB8AC3E}">
        <p14:creationId xmlns:p14="http://schemas.microsoft.com/office/powerpoint/2010/main" val="772942430"/>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 name="text-9">
            <a:extLst xmlns:a="http://schemas.openxmlformats.org/drawingml/2006/main">
              <a:ext uri="{FF2B5EF4-FFF2-40B4-BE49-F238E27FC236}">
                <a16:creationId xmlns:a16="http://schemas.microsoft.com/office/drawing/2014/main" id="{80783B85-1093-42DC-A76E-69BEECFE0EE2}"/>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B3A"/>
                </a:solidFill>
                <a:latin typeface="Arial"/>
                <a:ea typeface="Arial"/>
                <a:cs typeface="Arial"/>
              </a:defRPr>
            </a:pPr>
            <a:r>
              <a:rPr sz="3450" b="1">
                <a:solidFill>
                  <a:srgbClr val="122B3A"/>
                </a:solidFill>
                <a:latin typeface="Arial"/>
                <a:ea typeface="Arial"/>
                <a:cs typeface="Arial"/>
              </a:rPr>
              <a:t>System architecture</a:t>
            </a:r>
          </a:p>
        </p:txBody>
      </p:sp>
      <p:sp>
        <p:nvSpPr>
          <p:cNvPr id="2" name="text-10">
            <a:extLst xmlns:a="http://schemas.openxmlformats.org/drawingml/2006/main">
              <a:ext uri="{FF2B5EF4-FFF2-40B4-BE49-F238E27FC236}">
                <a16:creationId xmlns:a16="http://schemas.microsoft.com/office/drawing/2014/main" id="{0668382A-8610-4482-8463-ECF91663686B}"/>
              </a:ext>
            </a:extLst>
          </p:cNvPr>
          <p:cNvSpPr>
            <a:spLocks xmlns:a="http://schemas.openxmlformats.org/drawingml/2006/main" noGrp="1"/>
          </p:cNvSpPr>
          <p:nvPr/>
        </p:nvSpPr>
        <p:spPr>
          <a:xfrm xmlns:a="http://schemas.openxmlformats.org/drawingml/2006/main">
            <a:off x="628650" y="12001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1"/>
                </a:solidFill>
                <a:latin typeface="Arial"/>
                <a:ea typeface="Arial"/>
                <a:cs typeface="Arial"/>
              </a:defRPr>
            </a:pPr>
            <a:r>
              <a:rPr sz="1875" b="0">
                <a:solidFill>
                  <a:srgbClr val="526571"/>
                </a:solidFill>
                <a:latin typeface="Arial"/>
                <a:ea typeface="Arial"/>
                <a:cs typeface="Arial"/>
              </a:rPr>
              <a:t>One synchronous Python loop owns the state and calls the model for each role.</a:t>
            </a:r>
          </a:p>
        </p:txBody>
      </p:sp>
      <p:sp>
        <p:nvSpPr>
          <p:cNvPr id="3" name="text-11">
            <a:extLst xmlns:a="http://schemas.openxmlformats.org/drawingml/2006/main">
              <a:ext uri="{FF2B5EF4-FFF2-40B4-BE49-F238E27FC236}">
                <a16:creationId xmlns:a16="http://schemas.microsoft.com/office/drawing/2014/main" id="{E8F14F52-75C9-4AD3-AF2A-F37D11E93DDF}"/>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26571"/>
                </a:solidFill>
                <a:latin typeface="Arial"/>
                <a:ea typeface="Arial"/>
                <a:cs typeface="Arial"/>
              </a:defRPr>
            </a:pPr>
            <a:r>
              <a:rPr sz="1500" b="0">
                <a:solidFill>
                  <a:srgbClr val="526571"/>
                </a:solidFill>
                <a:latin typeface="Arial"/>
                <a:ea typeface="Arial"/>
                <a:cs typeface="Arial"/>
              </a:rPr>
              <a:t>03</a:t>
            </a:r>
          </a:p>
        </p:txBody>
      </p:sp>
      <p:sp>
        <p:nvSpPr>
          <p:cNvPr id="4" name="diagram-12">
            <a:extLst xmlns:a="http://schemas.openxmlformats.org/drawingml/2006/main">
              <a:ext uri="{FF2B5EF4-FFF2-40B4-BE49-F238E27FC236}">
                <a16:creationId xmlns:a16="http://schemas.microsoft.com/office/drawing/2014/main" id="{8DCD7F4A-B2EE-4F44-81E3-C4521CC80638}"/>
              </a:ext>
            </a:extLst>
          </p:cNvPr>
          <p:cNvSpPr>
            <a:spLocks xmlns:a="http://schemas.openxmlformats.org/drawingml/2006/main" noGrp="1"/>
          </p:cNvSpPr>
          <p:nvPr/>
        </p:nvSpPr>
        <p:spPr>
          <a:xfrm xmlns:a="http://schemas.openxmlformats.org/drawingml/2006/main">
            <a:off x="619125" y="2924175"/>
            <a:ext cx="209550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C9D2D5"/>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950" b="1">
                <a:solidFill>
                  <a:srgbClr val="122B3A"/>
                </a:solidFill>
                <a:latin typeface="Arial"/>
                <a:ea typeface="Arial"/>
                <a:cs typeface="Arial"/>
              </a:defRPr>
            </a:pPr>
            <a:r>
              <a:rPr sz="1950" b="1">
                <a:solidFill>
                  <a:srgbClr val="122B3A"/>
                </a:solidFill>
                <a:latin typeface="Arial"/>
                <a:ea typeface="Arial"/>
                <a:cs typeface="Arial"/>
              </a:rPr>
              <a:t>CLI inputs</a:t>
            </a:r>
          </a:p>
          <a:p xmlns:a="http://schemas.openxmlformats.org/drawingml/2006/main">
            <a:pPr algn="ctr">
              <a:defRPr sz="1950" b="1">
                <a:solidFill>
                  <a:srgbClr val="122B3A"/>
                </a:solidFill>
                <a:latin typeface="Arial"/>
                <a:ea typeface="Arial"/>
                <a:cs typeface="Arial"/>
              </a:defRPr>
            </a:pPr>
            <a:r>
              <a:rPr sz="1950" b="1">
                <a:solidFill>
                  <a:srgbClr val="122B3A"/>
                </a:solidFill>
                <a:latin typeface="Arial"/>
                <a:ea typeface="Arial"/>
                <a:cs typeface="Arial"/>
              </a:rPr>
              <a:t>Request + context</a:t>
            </a:r>
          </a:p>
        </p:txBody>
      </p:sp>
      <p:sp>
        <p:nvSpPr>
          <p:cNvPr id="5" name="diagram-13">
            <a:extLst xmlns:a="http://schemas.openxmlformats.org/drawingml/2006/main">
              <a:ext uri="{FF2B5EF4-FFF2-40B4-BE49-F238E27FC236}">
                <a16:creationId xmlns:a16="http://schemas.microsoft.com/office/drawing/2014/main" id="{54363FC6-4AD9-48D4-BC3E-104499B3C453}"/>
              </a:ext>
            </a:extLst>
          </p:cNvPr>
          <p:cNvSpPr>
            <a:spLocks xmlns:a="http://schemas.openxmlformats.org/drawingml/2006/main" noGrp="1"/>
          </p:cNvSpPr>
          <p:nvPr/>
        </p:nvSpPr>
        <p:spPr>
          <a:xfrm xmlns:a="http://schemas.openxmlformats.org/drawingml/2006/main">
            <a:off x="4000500" y="2762250"/>
            <a:ext cx="3857625" cy="1409700"/>
          </a:xfrm>
          <a:prstGeom xmlns:a="http://schemas.openxmlformats.org/drawingml/2006/main" prst="rect">
            <a:avLst/>
          </a:prstGeom>
          <a:solidFill xmlns:a="http://schemas.openxmlformats.org/drawingml/2006/main">
            <a:srgbClr val="122B3A"/>
          </a:solidFill>
          <a:ln xmlns:a="http://schemas.openxmlformats.org/drawingml/2006/main" w="14288">
            <a:solidFill>
              <a:srgbClr val="122B3A"/>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Python referee</a:t>
            </a:r>
          </a:p>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engine.py</a:t>
            </a:r>
          </a:p>
        </p:txBody>
      </p:sp>
      <p:sp>
        <p:nvSpPr>
          <p:cNvPr id="6" name="diagram-14">
            <a:extLst xmlns:a="http://schemas.openxmlformats.org/drawingml/2006/main">
              <a:ext uri="{FF2B5EF4-FFF2-40B4-BE49-F238E27FC236}">
                <a16:creationId xmlns:a16="http://schemas.microsoft.com/office/drawing/2014/main" id="{974C9F20-9390-4EEB-AD8D-7782CCC2B646}"/>
              </a:ext>
            </a:extLst>
          </p:cNvPr>
          <p:cNvSpPr>
            <a:spLocks xmlns:a="http://schemas.openxmlformats.org/drawingml/2006/main" noGrp="1"/>
          </p:cNvSpPr>
          <p:nvPr/>
        </p:nvSpPr>
        <p:spPr>
          <a:xfrm xmlns:a="http://schemas.openxmlformats.org/drawingml/2006/main">
            <a:off x="9191625" y="2924175"/>
            <a:ext cx="2333625"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C9D2D5"/>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950" b="1">
                <a:solidFill>
                  <a:srgbClr val="122B3A"/>
                </a:solidFill>
                <a:latin typeface="Arial"/>
                <a:ea typeface="Arial"/>
                <a:cs typeface="Arial"/>
              </a:defRPr>
            </a:pPr>
            <a:r>
              <a:rPr sz="1950" b="1">
                <a:solidFill>
                  <a:srgbClr val="122B3A"/>
                </a:solidFill>
                <a:latin typeface="Arial"/>
                <a:ea typeface="Arial"/>
                <a:cs typeface="Arial"/>
              </a:rPr>
              <a:t>Model provider</a:t>
            </a:r>
          </a:p>
          <a:p xmlns:a="http://schemas.openxmlformats.org/drawingml/2006/main">
            <a:pPr algn="ctr">
              <a:defRPr sz="1950" b="1">
                <a:solidFill>
                  <a:srgbClr val="122B3A"/>
                </a:solidFill>
                <a:latin typeface="Arial"/>
                <a:ea typeface="Arial"/>
                <a:cs typeface="Arial"/>
              </a:defRPr>
            </a:pPr>
            <a:r>
              <a:rPr sz="1950" b="1">
                <a:solidFill>
                  <a:srgbClr val="122B3A"/>
                </a:solidFill>
                <a:latin typeface="Arial"/>
                <a:ea typeface="Arial"/>
                <a:cs typeface="Arial"/>
              </a:rPr>
              <a:t>Anthropic / Haiku</a:t>
            </a:r>
          </a:p>
        </p:txBody>
      </p:sp>
      <p:sp>
        <p:nvSpPr>
          <p:cNvPr id="7" name="diagram-15">
            <a:extLst xmlns:a="http://schemas.openxmlformats.org/drawingml/2006/main">
              <a:ext uri="{FF2B5EF4-FFF2-40B4-BE49-F238E27FC236}">
                <a16:creationId xmlns:a16="http://schemas.microsoft.com/office/drawing/2014/main" id="{15080C0F-5746-434D-B93A-96378039068E}"/>
              </a:ext>
            </a:extLst>
          </p:cNvPr>
          <p:cNvSpPr>
            <a:spLocks xmlns:a="http://schemas.openxmlformats.org/drawingml/2006/main" noGrp="1"/>
          </p:cNvSpPr>
          <p:nvPr/>
        </p:nvSpPr>
        <p:spPr>
          <a:xfrm xmlns:a="http://schemas.openxmlformats.org/drawingml/2006/main">
            <a:off x="4000500" y="1809750"/>
            <a:ext cx="3857625" cy="666750"/>
          </a:xfrm>
          <a:prstGeom xmlns:a="http://schemas.openxmlformats.org/drawingml/2006/main" prst="rect">
            <a:avLst/>
          </a:prstGeom>
          <a:solidFill xmlns:a="http://schemas.openxmlformats.org/drawingml/2006/main">
            <a:srgbClr val="E9EEF9"/>
          </a:solidFill>
          <a:ln xmlns:a="http://schemas.openxmlformats.org/drawingml/2006/main" w="14288">
            <a:solidFill>
              <a:srgbClr val="315CCB"/>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800" b="1">
                <a:solidFill>
                  <a:srgbClr val="122B3A"/>
                </a:solidFill>
                <a:latin typeface="Arial"/>
                <a:ea typeface="Arial"/>
                <a:cs typeface="Arial"/>
              </a:defRPr>
            </a:pPr>
            <a:r>
              <a:rPr sz="1800" b="1">
                <a:solidFill>
                  <a:srgbClr val="122B3A"/>
                </a:solidFill>
                <a:latin typeface="Arial"/>
                <a:ea typeface="Arial"/>
                <a:cs typeface="Arial"/>
              </a:rPr>
              <a:t>Three prompt files</a:t>
            </a:r>
          </a:p>
          <a:p xmlns:a="http://schemas.openxmlformats.org/drawingml/2006/main">
            <a:pPr algn="ctr">
              <a:defRPr sz="1800" b="1">
                <a:solidFill>
                  <a:srgbClr val="122B3A"/>
                </a:solidFill>
                <a:latin typeface="Arial"/>
                <a:ea typeface="Arial"/>
                <a:cs typeface="Arial"/>
              </a:defRPr>
            </a:pPr>
            <a:r>
              <a:rPr sz="1800" b="1">
                <a:solidFill>
                  <a:srgbClr val="122B3A"/>
                </a:solidFill>
                <a:latin typeface="Arial"/>
                <a:ea typeface="Arial"/>
                <a:cs typeface="Arial"/>
              </a:rPr>
              <a:t>Proposer / Critic / Summarizer</a:t>
            </a:r>
          </a:p>
        </p:txBody>
      </p:sp>
      <p:sp>
        <p:nvSpPr>
          <p:cNvPr id="8" name="diagram-16">
            <a:extLst xmlns:a="http://schemas.openxmlformats.org/drawingml/2006/main">
              <a:ext uri="{FF2B5EF4-FFF2-40B4-BE49-F238E27FC236}">
                <a16:creationId xmlns:a16="http://schemas.microsoft.com/office/drawing/2014/main" id="{9CC86962-7C00-41F9-A076-72137D9B2409}"/>
              </a:ext>
            </a:extLst>
          </p:cNvPr>
          <p:cNvSpPr>
            <a:spLocks xmlns:a="http://schemas.openxmlformats.org/drawingml/2006/main" noGrp="1"/>
          </p:cNvSpPr>
          <p:nvPr/>
        </p:nvSpPr>
        <p:spPr>
          <a:xfrm xmlns:a="http://schemas.openxmlformats.org/drawingml/2006/main">
            <a:off x="3381375" y="4667250"/>
            <a:ext cx="4143375" cy="1123950"/>
          </a:xfrm>
          <a:prstGeom xmlns:a="http://schemas.openxmlformats.org/drawingml/2006/main" prst="rect">
            <a:avLst/>
          </a:prstGeom>
          <a:solidFill xmlns:a="http://schemas.openxmlformats.org/drawingml/2006/main">
            <a:srgbClr val="E6F0EB"/>
          </a:solidFill>
          <a:ln xmlns:a="http://schemas.openxmlformats.org/drawingml/2006/main" w="14288">
            <a:solidFill>
              <a:srgbClr val="176B65"/>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875" b="1">
                <a:solidFill>
                  <a:srgbClr val="122B3A"/>
                </a:solidFill>
                <a:latin typeface="Arial"/>
                <a:ea typeface="Arial"/>
                <a:cs typeface="Arial"/>
              </a:defRPr>
            </a:pPr>
            <a:r>
              <a:rPr sz="1875" b="1">
                <a:solidFill>
                  <a:srgbClr val="122B3A"/>
                </a:solidFill>
                <a:latin typeface="Arial"/>
                <a:ea typeface="Arial"/>
                <a:cs typeface="Arial"/>
              </a:rPr>
              <a:t>Output contracts + checks</a:t>
            </a:r>
          </a:p>
          <a:p xmlns:a="http://schemas.openxmlformats.org/drawingml/2006/main">
            <a:pPr algn="ctr">
              <a:defRPr sz="1875" b="1">
                <a:solidFill>
                  <a:srgbClr val="122B3A"/>
                </a:solidFill>
                <a:latin typeface="Arial"/>
                <a:ea typeface="Arial"/>
                <a:cs typeface="Arial"/>
              </a:defRPr>
            </a:pPr>
            <a:r>
              <a:rPr sz="1875" b="1">
                <a:solidFill>
                  <a:srgbClr val="122B3A"/>
                </a:solidFill>
                <a:latin typeface="Arial"/>
                <a:ea typeface="Arial"/>
                <a:cs typeface="Arial"/>
              </a:rPr>
              <a:t>schemas.py / validation.py</a:t>
            </a:r>
          </a:p>
          <a:p xmlns:a="http://schemas.openxmlformats.org/drawingml/2006/main">
            <a:pPr algn="ctr">
              <a:defRPr sz="1875" b="1">
                <a:solidFill>
                  <a:srgbClr val="122B3A"/>
                </a:solidFill>
                <a:latin typeface="Arial"/>
                <a:ea typeface="Arial"/>
                <a:cs typeface="Arial"/>
              </a:defRPr>
            </a:pPr>
            <a:r>
              <a:rPr sz="1875" b="1">
                <a:solidFill>
                  <a:srgbClr val="122B3A"/>
                </a:solidFill>
                <a:latin typeface="Arial"/>
                <a:ea typeface="Arial"/>
                <a:cs typeface="Arial"/>
              </a:rPr>
              <a:t>termination.py</a:t>
            </a:r>
          </a:p>
        </p:txBody>
      </p:sp>
      <p:sp>
        <p:nvSpPr>
          <p:cNvPr id="9" name="diagram-17">
            <a:extLst xmlns:a="http://schemas.openxmlformats.org/drawingml/2006/main">
              <a:ext uri="{FF2B5EF4-FFF2-40B4-BE49-F238E27FC236}">
                <a16:creationId xmlns:a16="http://schemas.microsoft.com/office/drawing/2014/main" id="{F0D14CA1-4590-48D2-B7C9-CE1DEFCFE39C}"/>
              </a:ext>
            </a:extLst>
          </p:cNvPr>
          <p:cNvSpPr>
            <a:spLocks xmlns:a="http://schemas.openxmlformats.org/drawingml/2006/main" noGrp="1"/>
          </p:cNvSpPr>
          <p:nvPr/>
        </p:nvSpPr>
        <p:spPr>
          <a:xfrm xmlns:a="http://schemas.openxmlformats.org/drawingml/2006/main">
            <a:off x="8429625" y="4667250"/>
            <a:ext cx="3095625" cy="1123950"/>
          </a:xfrm>
          <a:prstGeom xmlns:a="http://schemas.openxmlformats.org/drawingml/2006/main" prst="rect">
            <a:avLst/>
          </a:prstGeom>
          <a:solidFill xmlns:a="http://schemas.openxmlformats.org/drawingml/2006/main">
            <a:srgbClr val="F5E9E2"/>
          </a:solidFill>
          <a:ln xmlns:a="http://schemas.openxmlformats.org/drawingml/2006/main" w="14288">
            <a:solidFill>
              <a:srgbClr val="A54E39"/>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875" b="1">
                <a:solidFill>
                  <a:srgbClr val="122B3A"/>
                </a:solidFill>
                <a:latin typeface="Arial"/>
                <a:ea typeface="Arial"/>
                <a:cs typeface="Arial"/>
              </a:defRPr>
            </a:pPr>
            <a:r>
              <a:rPr sz="1875" b="1">
                <a:solidFill>
                  <a:srgbClr val="122B3A"/>
                </a:solidFill>
                <a:latin typeface="Arial"/>
                <a:ea typeface="Arial"/>
                <a:cs typeface="Arial"/>
              </a:rPr>
              <a:t>Run artifacts</a:t>
            </a:r>
          </a:p>
          <a:p xmlns:a="http://schemas.openxmlformats.org/drawingml/2006/main">
            <a:pPr algn="ctr">
              <a:defRPr sz="1875" b="1">
                <a:solidFill>
                  <a:srgbClr val="122B3A"/>
                </a:solidFill>
                <a:latin typeface="Arial"/>
                <a:ea typeface="Arial"/>
                <a:cs typeface="Arial"/>
              </a:defRPr>
            </a:pPr>
            <a:r>
              <a:rPr sz="1875" b="1">
                <a:solidFill>
                  <a:srgbClr val="122B3A"/>
                </a:solidFill>
                <a:latin typeface="Arial"/>
                <a:ea typeface="Arial"/>
                <a:cs typeface="Arial"/>
              </a:rPr>
              <a:t>Trace / metadata / final.json</a:t>
            </a:r>
          </a:p>
        </p:txBody>
      </p:sp>
      <p:cxnSp>
        <p:nvCxnSpPr>
          <p:cNvPr id="26" name=""/>
          <p:cNvCxnSpPr>
            <a:stCxn xmlns:a="http://schemas.openxmlformats.org/drawingml/2006/main" id="4" idx="3"/>
            <a:endCxn xmlns:a="http://schemas.openxmlformats.org/drawingml/2006/main" id="5" idx="1"/>
          </p:cNvCxnSpPr>
          <p:nvPr/>
        </p:nvCxnSpPr>
        <p:spPr>
          <a:xfrm xmlns:a="http://schemas.openxmlformats.org/drawingml/2006/main">
            <a:off x="2714625" y="3457575"/>
            <a:ext cx="1285875" cy="9525"/>
          </a:xfrm>
          <a:prstGeom xmlns:a="http://schemas.openxmlformats.org/drawingml/2006/main" prst="straightConnector1">
            <a:avLst/>
          </a:prstGeom>
          <a:ln xmlns:a="http://schemas.openxmlformats.org/drawingml/2006/main" w="20955">
            <a:solidFill>
              <a:srgbClr val="526571"/>
            </a:solidFill>
            <a:tailEnd type="triangle" w="med" len="med"/>
          </a:ln>
        </p:spPr>
      </p:cxnSp>
      <p:cxnSp>
        <p:nvCxnSpPr>
          <p:cNvPr id="27" name=""/>
          <p:cNvCxnSpPr>
            <a:stCxn xmlns:a="http://schemas.openxmlformats.org/drawingml/2006/main" id="7" idx="2"/>
            <a:endCxn xmlns:a="http://schemas.openxmlformats.org/drawingml/2006/main" id="5" idx="0"/>
          </p:cNvCxnSpPr>
          <p:nvPr/>
        </p:nvCxnSpPr>
        <p:spPr>
          <a:xfrm xmlns:a="http://schemas.openxmlformats.org/drawingml/2006/main">
            <a:off x="5929313" y="2476500"/>
            <a:ext cx="0" cy="285750"/>
          </a:xfrm>
          <a:prstGeom xmlns:a="http://schemas.openxmlformats.org/drawingml/2006/main" prst="straightConnector1">
            <a:avLst/>
          </a:prstGeom>
          <a:ln xmlns:a="http://schemas.openxmlformats.org/drawingml/2006/main" w="20955">
            <a:solidFill>
              <a:srgbClr val="315CCB"/>
            </a:solidFill>
            <a:tailEnd type="triangle" w="med" len="med"/>
          </a:ln>
        </p:spPr>
      </p:cxnSp>
      <p:cxnSp>
        <p:nvCxnSpPr>
          <p:cNvPr id="28" name=""/>
          <p:cNvCxnSpPr>
            <a:stCxn xmlns:a="http://schemas.openxmlformats.org/drawingml/2006/main" id="5" idx="3"/>
            <a:endCxn xmlns:a="http://schemas.openxmlformats.org/drawingml/2006/main" id="6" idx="1"/>
          </p:cNvCxnSpPr>
          <p:nvPr/>
        </p:nvCxnSpPr>
        <p:spPr>
          <a:xfrm xmlns:a="http://schemas.openxmlformats.org/drawingml/2006/main" flipV="1">
            <a:off x="7858125" y="3457575"/>
            <a:ext cx="1333500" cy="9525"/>
          </a:xfrm>
          <a:prstGeom xmlns:a="http://schemas.openxmlformats.org/drawingml/2006/main" prst="straightConnector1">
            <a:avLst/>
          </a:prstGeom>
          <a:ln xmlns:a="http://schemas.openxmlformats.org/drawingml/2006/main" w="20955">
            <a:solidFill>
              <a:srgbClr val="526571"/>
            </a:solidFill>
            <a:headEnd type="triangle" w="med" len="med"/>
            <a:tailEnd type="triangle" w="med" len="med"/>
          </a:ln>
        </p:spPr>
      </p:cxnSp>
      <p:cxnSp>
        <p:nvCxnSpPr>
          <p:cNvPr id="29" name=""/>
          <p:cNvCxnSpPr>
            <a:stCxn xmlns:a="http://schemas.openxmlformats.org/drawingml/2006/main" id="5" idx="2"/>
            <a:endCxn xmlns:a="http://schemas.openxmlformats.org/drawingml/2006/main" id="8" idx="0"/>
          </p:cNvCxnSpPr>
          <p:nvPr/>
        </p:nvCxnSpPr>
        <p:spPr>
          <a:xfrm xmlns:a="http://schemas.openxmlformats.org/drawingml/2006/main" flipH="1">
            <a:off x="5453063" y="4171950"/>
            <a:ext cx="476250" cy="495300"/>
          </a:xfrm>
          <a:prstGeom xmlns:a="http://schemas.openxmlformats.org/drawingml/2006/main" prst="bentConnector4">
            <a:avLst>
              <a:gd name="adj1" fmla="val 0"/>
              <a:gd name="adj2" fmla="val 50000"/>
            </a:avLst>
          </a:prstGeom>
          <a:ln xmlns:a="http://schemas.openxmlformats.org/drawingml/2006/main" w="20955">
            <a:solidFill>
              <a:srgbClr val="526571"/>
            </a:solidFill>
            <a:tailEnd type="triangle" w="med" len="med"/>
          </a:ln>
        </p:spPr>
      </p:cxnSp>
      <p:cxnSp>
        <p:nvCxnSpPr>
          <p:cNvPr id="30" name=""/>
          <p:cNvCxnSpPr>
            <a:stCxn xmlns:a="http://schemas.openxmlformats.org/drawingml/2006/main" id="5" idx="2"/>
            <a:endCxn xmlns:a="http://schemas.openxmlformats.org/drawingml/2006/main" id="9" idx="0"/>
          </p:cNvCxnSpPr>
          <p:nvPr/>
        </p:nvCxnSpPr>
        <p:spPr>
          <a:xfrm xmlns:a="http://schemas.openxmlformats.org/drawingml/2006/main">
            <a:off x="5929313" y="4171950"/>
            <a:ext cx="4048125" cy="495300"/>
          </a:xfrm>
          <a:prstGeom xmlns:a="http://schemas.openxmlformats.org/drawingml/2006/main" prst="bentConnector4">
            <a:avLst>
              <a:gd name="adj1" fmla="val 0"/>
              <a:gd name="adj2" fmla="val 50000"/>
            </a:avLst>
          </a:prstGeom>
          <a:ln xmlns:a="http://schemas.openxmlformats.org/drawingml/2006/main" w="20955">
            <a:solidFill>
              <a:srgbClr val="526571"/>
            </a:solidFill>
            <a:tailEnd type="triangle" w="med" len="med"/>
          </a:ln>
        </p:spPr>
      </p:cxnSp>
      <p:sp>
        <p:nvSpPr>
          <p:cNvPr id="15" name="text-18">
            <a:extLst xmlns:a="http://schemas.openxmlformats.org/drawingml/2006/main">
              <a:ext uri="{FF2B5EF4-FFF2-40B4-BE49-F238E27FC236}">
                <a16:creationId xmlns:a16="http://schemas.microsoft.com/office/drawing/2014/main" id="{D814F5BB-42F7-42E1-AF8D-DF3BECADD3DF}"/>
              </a:ext>
            </a:extLst>
          </p:cNvPr>
          <p:cNvSpPr>
            <a:spLocks xmlns:a="http://schemas.openxmlformats.org/drawingml/2006/main" noGrp="1"/>
          </p:cNvSpPr>
          <p:nvPr/>
        </p:nvSpPr>
        <p:spPr>
          <a:xfrm xmlns:a="http://schemas.openxmlformats.org/drawingml/2006/main">
            <a:off x="8162925" y="2076450"/>
            <a:ext cx="3219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571"/>
                </a:solidFill>
                <a:latin typeface="Arial"/>
                <a:ea typeface="Arial"/>
                <a:cs typeface="Arial"/>
              </a:defRPr>
            </a:pPr>
            <a:r>
              <a:rPr sz="1725" b="0">
                <a:solidFill>
                  <a:srgbClr val="526571"/>
                </a:solidFill>
                <a:latin typeface="Arial"/>
                <a:ea typeface="Arial"/>
                <a:cs typeface="Arial"/>
              </a:rPr>
              <a:t>Role prompt + history</a:t>
            </a:r>
          </a:p>
          <a:p xmlns:a="http://schemas.openxmlformats.org/drawingml/2006/main">
            <a:pPr algn="l">
              <a:defRPr sz="1725" b="0">
                <a:solidFill>
                  <a:srgbClr val="526571"/>
                </a:solidFill>
                <a:latin typeface="Arial"/>
                <a:ea typeface="Arial"/>
                <a:cs typeface="Arial"/>
              </a:defRPr>
            </a:pPr>
            <a:r>
              <a:rPr sz="1725" b="0">
                <a:solidFill>
                  <a:srgbClr val="526571"/>
                </a:solidFill>
                <a:latin typeface="Arial"/>
                <a:ea typeface="Arial"/>
                <a:cs typeface="Arial"/>
              </a:rPr>
              <a:t>Structured response</a:t>
            </a:r>
          </a:p>
        </p:txBody>
      </p:sp>
      <p:sp>
        <p:nvSpPr>
          <p:cNvPr id="16" name="text-19">
            <a:extLst xmlns:a="http://schemas.openxmlformats.org/drawingml/2006/main">
              <a:ext uri="{FF2B5EF4-FFF2-40B4-BE49-F238E27FC236}">
                <a16:creationId xmlns:a16="http://schemas.microsoft.com/office/drawing/2014/main" id="{3DCDA0A0-DED5-46B0-BFFC-BF65D61553B3}"/>
              </a:ext>
            </a:extLst>
          </p:cNvPr>
          <p:cNvSpPr>
            <a:spLocks xmlns:a="http://schemas.openxmlformats.org/drawingml/2006/main" noGrp="1"/>
          </p:cNvSpPr>
          <p:nvPr/>
        </p:nvSpPr>
        <p:spPr>
          <a:xfrm xmlns:a="http://schemas.openxmlformats.org/drawingml/2006/main">
            <a:off x="638175" y="6076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22B3A"/>
                </a:solidFill>
                <a:latin typeface="Arial"/>
                <a:ea typeface="Arial"/>
                <a:cs typeface="Arial"/>
              </a:defRPr>
            </a:pPr>
            <a:r>
              <a:rPr sz="1875" b="1">
                <a:solidFill>
                  <a:srgbClr val="122B3A"/>
                </a:solidFill>
                <a:latin typeface="Arial"/>
                <a:ea typeface="Arial"/>
                <a:cs typeface="Arial"/>
              </a:rPr>
              <a:t>Python manages sequence and consistency. The agents judge the arguments.</a:t>
            </a:r>
          </a:p>
        </p:txBody>
      </p:sp>
    </p:spTree>
    <p:extLst>
      <p:ext uri="{BB962C8B-B14F-4D97-AF65-F5344CB8AC3E}">
        <p14:creationId xmlns:p14="http://schemas.microsoft.com/office/powerpoint/2010/main" val="1984140833"/>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7" name="text-20">
            <a:extLst xmlns:a="http://schemas.openxmlformats.org/drawingml/2006/main">
              <a:ext uri="{FF2B5EF4-FFF2-40B4-BE49-F238E27FC236}">
                <a16:creationId xmlns:a16="http://schemas.microsoft.com/office/drawing/2014/main" id="{C0EA6CC4-9C25-40E2-930F-E7EF36EB6B24}"/>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B3A"/>
                </a:solidFill>
                <a:latin typeface="Arial"/>
                <a:ea typeface="Arial"/>
                <a:cs typeface="Arial"/>
              </a:defRPr>
            </a:pPr>
            <a:r>
              <a:rPr sz="3450" b="1">
                <a:solidFill>
                  <a:srgbClr val="122B3A"/>
                </a:solidFill>
                <a:latin typeface="Arial"/>
                <a:ea typeface="Arial"/>
                <a:cs typeface="Arial"/>
              </a:rPr>
              <a:t>Conversation workflow</a:t>
            </a:r>
          </a:p>
        </p:txBody>
      </p:sp>
      <p:sp>
        <p:nvSpPr>
          <p:cNvPr id="2" name="text-21">
            <a:extLst xmlns:a="http://schemas.openxmlformats.org/drawingml/2006/main">
              <a:ext uri="{FF2B5EF4-FFF2-40B4-BE49-F238E27FC236}">
                <a16:creationId xmlns:a16="http://schemas.microsoft.com/office/drawing/2014/main" id="{CB83D4F4-0FE9-455C-9410-7C48AC65749F}"/>
              </a:ext>
            </a:extLst>
          </p:cNvPr>
          <p:cNvSpPr>
            <a:spLocks xmlns:a="http://schemas.openxmlformats.org/drawingml/2006/main" noGrp="1"/>
          </p:cNvSpPr>
          <p:nvPr/>
        </p:nvSpPr>
        <p:spPr>
          <a:xfrm xmlns:a="http://schemas.openxmlformats.org/drawingml/2006/main">
            <a:off x="628650" y="12001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1"/>
                </a:solidFill>
                <a:latin typeface="Arial"/>
                <a:ea typeface="Arial"/>
                <a:cs typeface="Arial"/>
              </a:defRPr>
            </a:pPr>
            <a:r>
              <a:rPr sz="1875" b="0">
                <a:solidFill>
                  <a:srgbClr val="526571"/>
                </a:solidFill>
                <a:latin typeface="Arial"/>
                <a:ea typeface="Arial"/>
                <a:cs typeface="Arial"/>
              </a:rPr>
              <a:t>Only validated responses enter the accepted dialogue.</a:t>
            </a:r>
          </a:p>
        </p:txBody>
      </p:sp>
      <p:sp>
        <p:nvSpPr>
          <p:cNvPr id="3" name="text-22">
            <a:extLst xmlns:a="http://schemas.openxmlformats.org/drawingml/2006/main">
              <a:ext uri="{FF2B5EF4-FFF2-40B4-BE49-F238E27FC236}">
                <a16:creationId xmlns:a16="http://schemas.microsoft.com/office/drawing/2014/main" id="{D08E4373-DA99-444A-B83D-E69B02D7F4F7}"/>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26571"/>
                </a:solidFill>
                <a:latin typeface="Arial"/>
                <a:ea typeface="Arial"/>
                <a:cs typeface="Arial"/>
              </a:defRPr>
            </a:pPr>
            <a:r>
              <a:rPr sz="1500" b="0">
                <a:solidFill>
                  <a:srgbClr val="526571"/>
                </a:solidFill>
                <a:latin typeface="Arial"/>
                <a:ea typeface="Arial"/>
                <a:cs typeface="Arial"/>
              </a:rPr>
              <a:t>04</a:t>
            </a:r>
          </a:p>
        </p:txBody>
      </p:sp>
      <p:sp>
        <p:nvSpPr>
          <p:cNvPr id="4" name="diagram-23">
            <a:extLst xmlns:a="http://schemas.openxmlformats.org/drawingml/2006/main">
              <a:ext uri="{FF2B5EF4-FFF2-40B4-BE49-F238E27FC236}">
                <a16:creationId xmlns:a16="http://schemas.microsoft.com/office/drawing/2014/main" id="{F881B92D-6749-4AF1-9F83-818BFCD49454}"/>
              </a:ext>
            </a:extLst>
          </p:cNvPr>
          <p:cNvSpPr>
            <a:spLocks xmlns:a="http://schemas.openxmlformats.org/drawingml/2006/main" noGrp="1"/>
          </p:cNvSpPr>
          <p:nvPr/>
        </p:nvSpPr>
        <p:spPr>
          <a:xfrm xmlns:a="http://schemas.openxmlformats.org/drawingml/2006/main">
            <a:off x="619125" y="2266950"/>
            <a:ext cx="2095500" cy="904875"/>
          </a:xfrm>
          <a:prstGeom xmlns:a="http://schemas.openxmlformats.org/drawingml/2006/main" prst="rect">
            <a:avLst/>
          </a:prstGeom>
          <a:solidFill xmlns:a="http://schemas.openxmlformats.org/drawingml/2006/main">
            <a:srgbClr val="315CCB"/>
          </a:solidFill>
          <a:ln xmlns:a="http://schemas.openxmlformats.org/drawingml/2006/main" w="14288">
            <a:solidFill>
              <a:srgbClr val="315CCB"/>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Proposer</a:t>
            </a:r>
          </a:p>
        </p:txBody>
      </p:sp>
      <p:sp>
        <p:nvSpPr>
          <p:cNvPr id="5" name="diagram-24">
            <a:extLst xmlns:a="http://schemas.openxmlformats.org/drawingml/2006/main">
              <a:ext uri="{FF2B5EF4-FFF2-40B4-BE49-F238E27FC236}">
                <a16:creationId xmlns:a16="http://schemas.microsoft.com/office/drawing/2014/main" id="{4CA17735-E945-40BE-BC81-3525B7CAD4C3}"/>
              </a:ext>
            </a:extLst>
          </p:cNvPr>
          <p:cNvSpPr>
            <a:spLocks xmlns:a="http://schemas.openxmlformats.org/drawingml/2006/main" noGrp="1"/>
          </p:cNvSpPr>
          <p:nvPr/>
        </p:nvSpPr>
        <p:spPr>
          <a:xfrm xmlns:a="http://schemas.openxmlformats.org/drawingml/2006/main">
            <a:off x="3381375" y="2266950"/>
            <a:ext cx="2000250"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C9D2D5"/>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875" b="1">
                <a:solidFill>
                  <a:srgbClr val="122B3A"/>
                </a:solidFill>
                <a:latin typeface="Arial"/>
                <a:ea typeface="Arial"/>
                <a:cs typeface="Arial"/>
              </a:defRPr>
            </a:pPr>
            <a:r>
              <a:rPr sz="1875" b="1">
                <a:solidFill>
                  <a:srgbClr val="122B3A"/>
                </a:solidFill>
                <a:latin typeface="Arial"/>
                <a:ea typeface="Arial"/>
                <a:cs typeface="Arial"/>
              </a:rPr>
              <a:t>Validate</a:t>
            </a:r>
          </a:p>
          <a:p xmlns:a="http://schemas.openxmlformats.org/drawingml/2006/main">
            <a:pPr algn="ctr">
              <a:defRPr sz="1875" b="1">
                <a:solidFill>
                  <a:srgbClr val="122B3A"/>
                </a:solidFill>
                <a:latin typeface="Arial"/>
                <a:ea typeface="Arial"/>
                <a:cs typeface="Arial"/>
              </a:defRPr>
            </a:pPr>
            <a:r>
              <a:rPr sz="1875" b="1">
                <a:solidFill>
                  <a:srgbClr val="122B3A"/>
                </a:solidFill>
                <a:latin typeface="Arial"/>
                <a:ea typeface="Arial"/>
                <a:cs typeface="Arial"/>
              </a:rPr>
              <a:t>+ accept</a:t>
            </a:r>
          </a:p>
        </p:txBody>
      </p:sp>
      <p:sp>
        <p:nvSpPr>
          <p:cNvPr id="6" name="diagram-25">
            <a:extLst xmlns:a="http://schemas.openxmlformats.org/drawingml/2006/main">
              <a:ext uri="{FF2B5EF4-FFF2-40B4-BE49-F238E27FC236}">
                <a16:creationId xmlns:a16="http://schemas.microsoft.com/office/drawing/2014/main" id="{F4C545E7-4115-4F9B-8F1E-BAF615CDB0B2}"/>
              </a:ext>
            </a:extLst>
          </p:cNvPr>
          <p:cNvSpPr>
            <a:spLocks xmlns:a="http://schemas.openxmlformats.org/drawingml/2006/main" noGrp="1"/>
          </p:cNvSpPr>
          <p:nvPr/>
        </p:nvSpPr>
        <p:spPr>
          <a:xfrm xmlns:a="http://schemas.openxmlformats.org/drawingml/2006/main">
            <a:off x="6048375" y="2266950"/>
            <a:ext cx="2000250" cy="904875"/>
          </a:xfrm>
          <a:prstGeom xmlns:a="http://schemas.openxmlformats.org/drawingml/2006/main" prst="rect">
            <a:avLst/>
          </a:prstGeom>
          <a:solidFill xmlns:a="http://schemas.openxmlformats.org/drawingml/2006/main">
            <a:srgbClr val="176B65"/>
          </a:solidFill>
          <a:ln xmlns:a="http://schemas.openxmlformats.org/drawingml/2006/main" w="14288">
            <a:solidFill>
              <a:srgbClr val="176B65"/>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Critic</a:t>
            </a:r>
          </a:p>
        </p:txBody>
      </p:sp>
      <p:sp>
        <p:nvSpPr>
          <p:cNvPr id="7" name="diagram-26">
            <a:extLst xmlns:a="http://schemas.openxmlformats.org/drawingml/2006/main">
              <a:ext uri="{FF2B5EF4-FFF2-40B4-BE49-F238E27FC236}">
                <a16:creationId xmlns:a16="http://schemas.microsoft.com/office/drawing/2014/main" id="{1F9FD5CA-C760-425B-8342-7C4CC1FA0A86}"/>
              </a:ext>
            </a:extLst>
          </p:cNvPr>
          <p:cNvSpPr>
            <a:spLocks xmlns:a="http://schemas.openxmlformats.org/drawingml/2006/main" noGrp="1"/>
          </p:cNvSpPr>
          <p:nvPr/>
        </p:nvSpPr>
        <p:spPr>
          <a:xfrm xmlns:a="http://schemas.openxmlformats.org/drawingml/2006/main">
            <a:off x="8715375" y="2266950"/>
            <a:ext cx="214312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C9D2D5"/>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875" b="1">
                <a:solidFill>
                  <a:srgbClr val="122B3A"/>
                </a:solidFill>
                <a:latin typeface="Arial"/>
                <a:ea typeface="Arial"/>
                <a:cs typeface="Arial"/>
              </a:defRPr>
            </a:pPr>
            <a:r>
              <a:rPr sz="1875" b="1">
                <a:solidFill>
                  <a:srgbClr val="122B3A"/>
                </a:solidFill>
                <a:latin typeface="Arial"/>
                <a:ea typeface="Arial"/>
                <a:cs typeface="Arial"/>
              </a:rPr>
              <a:t>Validate</a:t>
            </a:r>
          </a:p>
          <a:p xmlns:a="http://schemas.openxmlformats.org/drawingml/2006/main">
            <a:pPr algn="ctr">
              <a:defRPr sz="1875" b="1">
                <a:solidFill>
                  <a:srgbClr val="122B3A"/>
                </a:solidFill>
                <a:latin typeface="Arial"/>
                <a:ea typeface="Arial"/>
                <a:cs typeface="Arial"/>
              </a:defRPr>
            </a:pPr>
            <a:r>
              <a:rPr sz="1875" b="1">
                <a:solidFill>
                  <a:srgbClr val="122B3A"/>
                </a:solidFill>
                <a:latin typeface="Arial"/>
                <a:ea typeface="Arial"/>
                <a:cs typeface="Arial"/>
              </a:rPr>
              <a:t>+ accept</a:t>
            </a:r>
          </a:p>
        </p:txBody>
      </p:sp>
      <p:cxnSp>
        <p:nvCxnSpPr>
          <p:cNvPr id="34" name=""/>
          <p:cNvCxnSpPr>
            <a:stCxn xmlns:a="http://schemas.openxmlformats.org/drawingml/2006/main" id="4" idx="3"/>
            <a:endCxn xmlns:a="http://schemas.openxmlformats.org/drawingml/2006/main" id="5" idx="1"/>
          </p:cNvCxnSpPr>
          <p:nvPr/>
        </p:nvCxnSpPr>
        <p:spPr>
          <a:xfrm xmlns:a="http://schemas.openxmlformats.org/drawingml/2006/main">
            <a:off x="2714625" y="2719388"/>
            <a:ext cx="666750" cy="0"/>
          </a:xfrm>
          <a:prstGeom xmlns:a="http://schemas.openxmlformats.org/drawingml/2006/main" prst="straightConnector1">
            <a:avLst/>
          </a:prstGeom>
          <a:ln xmlns:a="http://schemas.openxmlformats.org/drawingml/2006/main" w="20955">
            <a:solidFill>
              <a:srgbClr val="526571"/>
            </a:solidFill>
            <a:tailEnd type="triangle" w="med" len="med"/>
          </a:ln>
        </p:spPr>
      </p:cxnSp>
      <p:cxnSp>
        <p:nvCxnSpPr>
          <p:cNvPr id="35" name=""/>
          <p:cNvCxnSpPr>
            <a:stCxn xmlns:a="http://schemas.openxmlformats.org/drawingml/2006/main" id="5" idx="3"/>
            <a:endCxn xmlns:a="http://schemas.openxmlformats.org/drawingml/2006/main" id="6" idx="1"/>
          </p:cNvCxnSpPr>
          <p:nvPr/>
        </p:nvCxnSpPr>
        <p:spPr>
          <a:xfrm xmlns:a="http://schemas.openxmlformats.org/drawingml/2006/main">
            <a:off x="5381625" y="2719388"/>
            <a:ext cx="666750" cy="0"/>
          </a:xfrm>
          <a:prstGeom xmlns:a="http://schemas.openxmlformats.org/drawingml/2006/main" prst="straightConnector1">
            <a:avLst/>
          </a:prstGeom>
          <a:ln xmlns:a="http://schemas.openxmlformats.org/drawingml/2006/main" w="20955">
            <a:solidFill>
              <a:srgbClr val="526571"/>
            </a:solidFill>
            <a:tailEnd type="triangle" w="med" len="med"/>
          </a:ln>
        </p:spPr>
      </p:cxnSp>
      <p:cxnSp>
        <p:nvCxnSpPr>
          <p:cNvPr id="36" name=""/>
          <p:cNvCxnSpPr>
            <a:stCxn xmlns:a="http://schemas.openxmlformats.org/drawingml/2006/main" id="6" idx="3"/>
            <a:endCxn xmlns:a="http://schemas.openxmlformats.org/drawingml/2006/main" id="7" idx="1"/>
          </p:cNvCxnSpPr>
          <p:nvPr/>
        </p:nvCxnSpPr>
        <p:spPr>
          <a:xfrm xmlns:a="http://schemas.openxmlformats.org/drawingml/2006/main">
            <a:off x="8048625" y="2719388"/>
            <a:ext cx="666750" cy="0"/>
          </a:xfrm>
          <a:prstGeom xmlns:a="http://schemas.openxmlformats.org/drawingml/2006/main" prst="straightConnector1">
            <a:avLst/>
          </a:prstGeom>
          <a:ln xmlns:a="http://schemas.openxmlformats.org/drawingml/2006/main" w="20955">
            <a:solidFill>
              <a:srgbClr val="526571"/>
            </a:solidFill>
            <a:tailEnd type="triangle" w="med" len="med"/>
          </a:ln>
        </p:spPr>
      </p:cxnSp>
      <p:sp>
        <p:nvSpPr>
          <p:cNvPr id="11" name="diagram-27">
            <a:extLst xmlns:a="http://schemas.openxmlformats.org/drawingml/2006/main">
              <a:ext uri="{FF2B5EF4-FFF2-40B4-BE49-F238E27FC236}">
                <a16:creationId xmlns:a16="http://schemas.microsoft.com/office/drawing/2014/main" id="{83859633-4375-4738-9125-81B019A5080F}"/>
              </a:ext>
            </a:extLst>
          </p:cNvPr>
          <p:cNvSpPr>
            <a:spLocks xmlns:a="http://schemas.openxmlformats.org/drawingml/2006/main" noGrp="1"/>
          </p:cNvSpPr>
          <p:nvPr/>
        </p:nvSpPr>
        <p:spPr>
          <a:xfrm xmlns:a="http://schemas.openxmlformats.org/drawingml/2006/main">
            <a:off x="8715375" y="3933825"/>
            <a:ext cx="2143125" cy="1009650"/>
          </a:xfrm>
          <a:prstGeom xmlns:a="http://schemas.openxmlformats.org/drawingml/2006/main" prst="rect">
            <a:avLst/>
          </a:prstGeom>
          <a:solidFill xmlns:a="http://schemas.openxmlformats.org/drawingml/2006/main">
            <a:srgbClr val="E6F0EB"/>
          </a:solidFill>
          <a:ln xmlns:a="http://schemas.openxmlformats.org/drawingml/2006/main" w="14288">
            <a:solidFill>
              <a:srgbClr val="176B65"/>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875" b="1">
                <a:solidFill>
                  <a:srgbClr val="122B3A"/>
                </a:solidFill>
                <a:latin typeface="Arial"/>
                <a:ea typeface="Arial"/>
                <a:cs typeface="Arial"/>
              </a:defRPr>
            </a:pPr>
            <a:r>
              <a:rPr sz="1875" b="1">
                <a:solidFill>
                  <a:srgbClr val="122B3A"/>
                </a:solidFill>
                <a:latin typeface="Arial"/>
                <a:ea typeface="Arial"/>
                <a:cs typeface="Arial"/>
              </a:rPr>
              <a:t>Check stopping</a:t>
            </a:r>
          </a:p>
          <a:p xmlns:a="http://schemas.openxmlformats.org/drawingml/2006/main">
            <a:pPr algn="ctr">
              <a:defRPr sz="1875" b="1">
                <a:solidFill>
                  <a:srgbClr val="122B3A"/>
                </a:solidFill>
                <a:latin typeface="Arial"/>
                <a:ea typeface="Arial"/>
                <a:cs typeface="Arial"/>
              </a:defRPr>
            </a:pPr>
            <a:r>
              <a:rPr sz="1875" b="1">
                <a:solidFill>
                  <a:srgbClr val="122B3A"/>
                </a:solidFill>
                <a:latin typeface="Arial"/>
                <a:ea typeface="Arial"/>
                <a:cs typeface="Arial"/>
              </a:rPr>
              <a:t>conditions</a:t>
            </a:r>
          </a:p>
        </p:txBody>
      </p:sp>
      <p:sp>
        <p:nvSpPr>
          <p:cNvPr id="12" name="diagram-28">
            <a:extLst xmlns:a="http://schemas.openxmlformats.org/drawingml/2006/main">
              <a:ext uri="{FF2B5EF4-FFF2-40B4-BE49-F238E27FC236}">
                <a16:creationId xmlns:a16="http://schemas.microsoft.com/office/drawing/2014/main" id="{CEC07885-2E5D-409B-8F75-CF7F2269916A}"/>
              </a:ext>
            </a:extLst>
          </p:cNvPr>
          <p:cNvSpPr>
            <a:spLocks xmlns:a="http://schemas.openxmlformats.org/drawingml/2006/main" noGrp="1"/>
          </p:cNvSpPr>
          <p:nvPr/>
        </p:nvSpPr>
        <p:spPr>
          <a:xfrm xmlns:a="http://schemas.openxmlformats.org/drawingml/2006/main">
            <a:off x="6000750" y="3933825"/>
            <a:ext cx="2047875" cy="1009650"/>
          </a:xfrm>
          <a:prstGeom xmlns:a="http://schemas.openxmlformats.org/drawingml/2006/main" prst="rect">
            <a:avLst/>
          </a:prstGeom>
          <a:solidFill xmlns:a="http://schemas.openxmlformats.org/drawingml/2006/main">
            <a:srgbClr val="A54E39"/>
          </a:solidFill>
          <a:ln xmlns:a="http://schemas.openxmlformats.org/drawingml/2006/main" w="14288">
            <a:solidFill>
              <a:srgbClr val="A54E39"/>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Summarizer</a:t>
            </a:r>
          </a:p>
        </p:txBody>
      </p:sp>
      <p:sp>
        <p:nvSpPr>
          <p:cNvPr id="13" name="diagram-29">
            <a:extLst xmlns:a="http://schemas.openxmlformats.org/drawingml/2006/main">
              <a:ext uri="{FF2B5EF4-FFF2-40B4-BE49-F238E27FC236}">
                <a16:creationId xmlns:a16="http://schemas.microsoft.com/office/drawing/2014/main" id="{34175F24-3387-45BF-8767-B772991B6093}"/>
              </a:ext>
            </a:extLst>
          </p:cNvPr>
          <p:cNvSpPr>
            <a:spLocks xmlns:a="http://schemas.openxmlformats.org/drawingml/2006/main" noGrp="1"/>
          </p:cNvSpPr>
          <p:nvPr/>
        </p:nvSpPr>
        <p:spPr>
          <a:xfrm xmlns:a="http://schemas.openxmlformats.org/drawingml/2006/main">
            <a:off x="3381375" y="3933825"/>
            <a:ext cx="1952625" cy="1009650"/>
          </a:xfrm>
          <a:prstGeom xmlns:a="http://schemas.openxmlformats.org/drawingml/2006/main" prst="rect">
            <a:avLst/>
          </a:prstGeom>
          <a:solidFill xmlns:a="http://schemas.openxmlformats.org/drawingml/2006/main">
            <a:srgbClr val="FFFFFF"/>
          </a:solidFill>
          <a:ln xmlns:a="http://schemas.openxmlformats.org/drawingml/2006/main" w="14288">
            <a:solidFill>
              <a:srgbClr val="C9D2D5"/>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800" b="1">
                <a:solidFill>
                  <a:srgbClr val="122B3A"/>
                </a:solidFill>
                <a:latin typeface="Arial"/>
                <a:ea typeface="Arial"/>
                <a:cs typeface="Arial"/>
              </a:defRPr>
            </a:pPr>
            <a:r>
              <a:rPr sz="1800" b="1">
                <a:solidFill>
                  <a:srgbClr val="122B3A"/>
                </a:solidFill>
                <a:latin typeface="Arial"/>
                <a:ea typeface="Arial"/>
                <a:cs typeface="Arial"/>
              </a:rPr>
              <a:t>Validate report</a:t>
            </a:r>
          </a:p>
          <a:p xmlns:a="http://schemas.openxmlformats.org/drawingml/2006/main">
            <a:pPr algn="ctr">
              <a:defRPr sz="1800" b="1">
                <a:solidFill>
                  <a:srgbClr val="122B3A"/>
                </a:solidFill>
                <a:latin typeface="Arial"/>
                <a:ea typeface="Arial"/>
                <a:cs typeface="Arial"/>
              </a:defRPr>
            </a:pPr>
            <a:r>
              <a:rPr sz="1800" b="1">
                <a:solidFill>
                  <a:srgbClr val="122B3A"/>
                </a:solidFill>
                <a:latin typeface="Arial"/>
                <a:ea typeface="Arial"/>
                <a:cs typeface="Arial"/>
              </a:rPr>
              <a:t>+ references</a:t>
            </a:r>
          </a:p>
        </p:txBody>
      </p:sp>
      <p:sp>
        <p:nvSpPr>
          <p:cNvPr id="14" name="diagram-30">
            <a:extLst xmlns:a="http://schemas.openxmlformats.org/drawingml/2006/main">
              <a:ext uri="{FF2B5EF4-FFF2-40B4-BE49-F238E27FC236}">
                <a16:creationId xmlns:a16="http://schemas.microsoft.com/office/drawing/2014/main" id="{054B559B-2D34-4BE3-816F-42E91CFCCBED}"/>
              </a:ext>
            </a:extLst>
          </p:cNvPr>
          <p:cNvSpPr>
            <a:spLocks xmlns:a="http://schemas.openxmlformats.org/drawingml/2006/main" noGrp="1"/>
          </p:cNvSpPr>
          <p:nvPr/>
        </p:nvSpPr>
        <p:spPr>
          <a:xfrm xmlns:a="http://schemas.openxmlformats.org/drawingml/2006/main">
            <a:off x="619125" y="3933825"/>
            <a:ext cx="2095500" cy="1009650"/>
          </a:xfrm>
          <a:prstGeom xmlns:a="http://schemas.openxmlformats.org/drawingml/2006/main" prst="rect">
            <a:avLst/>
          </a:prstGeom>
          <a:solidFill xmlns:a="http://schemas.openxmlformats.org/drawingml/2006/main">
            <a:srgbClr val="122B3A"/>
          </a:solidFill>
          <a:ln xmlns:a="http://schemas.openxmlformats.org/drawingml/2006/main" w="14288">
            <a:solidFill>
              <a:srgbClr val="122B3A"/>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final.json</a:t>
            </a:r>
          </a:p>
        </p:txBody>
      </p:sp>
      <p:cxnSp>
        <p:nvCxnSpPr>
          <p:cNvPr id="41" name=""/>
          <p:cNvCxnSpPr>
            <a:stCxn xmlns:a="http://schemas.openxmlformats.org/drawingml/2006/main" id="7" idx="2"/>
            <a:endCxn xmlns:a="http://schemas.openxmlformats.org/drawingml/2006/main" id="11" idx="0"/>
          </p:cNvCxnSpPr>
          <p:nvPr/>
        </p:nvCxnSpPr>
        <p:spPr>
          <a:xfrm xmlns:a="http://schemas.openxmlformats.org/drawingml/2006/main">
            <a:off x="9786938" y="3171825"/>
            <a:ext cx="0" cy="762000"/>
          </a:xfrm>
          <a:prstGeom xmlns:a="http://schemas.openxmlformats.org/drawingml/2006/main" prst="straightConnector1">
            <a:avLst/>
          </a:prstGeom>
          <a:ln xmlns:a="http://schemas.openxmlformats.org/drawingml/2006/main" w="20955">
            <a:solidFill>
              <a:srgbClr val="526571"/>
            </a:solidFill>
            <a:tailEnd type="triangle" w="med" len="med"/>
          </a:ln>
        </p:spPr>
      </p:cxnSp>
      <p:cxnSp>
        <p:nvCxnSpPr>
          <p:cNvPr id="42" name=""/>
          <p:cNvCxnSpPr>
            <a:stCxn xmlns:a="http://schemas.openxmlformats.org/drawingml/2006/main" id="11" idx="1"/>
            <a:endCxn xmlns:a="http://schemas.openxmlformats.org/drawingml/2006/main" id="12" idx="3"/>
          </p:cNvCxnSpPr>
          <p:nvPr/>
        </p:nvCxnSpPr>
        <p:spPr>
          <a:xfrm xmlns:a="http://schemas.openxmlformats.org/drawingml/2006/main" flipH="1">
            <a:off x="8048625" y="4438650"/>
            <a:ext cx="666750" cy="0"/>
          </a:xfrm>
          <a:prstGeom xmlns:a="http://schemas.openxmlformats.org/drawingml/2006/main" prst="straightConnector1">
            <a:avLst/>
          </a:prstGeom>
          <a:ln xmlns:a="http://schemas.openxmlformats.org/drawingml/2006/main" w="20955">
            <a:solidFill>
              <a:srgbClr val="526571"/>
            </a:solidFill>
            <a:tailEnd type="triangle" w="med" len="med"/>
          </a:ln>
        </p:spPr>
      </p:cxnSp>
      <p:cxnSp>
        <p:nvCxnSpPr>
          <p:cNvPr id="43" name=""/>
          <p:cNvCxnSpPr>
            <a:stCxn xmlns:a="http://schemas.openxmlformats.org/drawingml/2006/main" id="12" idx="1"/>
            <a:endCxn xmlns:a="http://schemas.openxmlformats.org/drawingml/2006/main" id="13" idx="3"/>
          </p:cNvCxnSpPr>
          <p:nvPr/>
        </p:nvCxnSpPr>
        <p:spPr>
          <a:xfrm xmlns:a="http://schemas.openxmlformats.org/drawingml/2006/main" flipH="1">
            <a:off x="5334000" y="4438650"/>
            <a:ext cx="666750" cy="0"/>
          </a:xfrm>
          <a:prstGeom xmlns:a="http://schemas.openxmlformats.org/drawingml/2006/main" prst="straightConnector1">
            <a:avLst/>
          </a:prstGeom>
          <a:ln xmlns:a="http://schemas.openxmlformats.org/drawingml/2006/main" w="20955">
            <a:solidFill>
              <a:srgbClr val="526571"/>
            </a:solidFill>
            <a:tailEnd type="triangle" w="med" len="med"/>
          </a:ln>
        </p:spPr>
      </p:cxnSp>
      <p:cxnSp>
        <p:nvCxnSpPr>
          <p:cNvPr id="44" name=""/>
          <p:cNvCxnSpPr>
            <a:stCxn xmlns:a="http://schemas.openxmlformats.org/drawingml/2006/main" id="13" idx="1"/>
            <a:endCxn xmlns:a="http://schemas.openxmlformats.org/drawingml/2006/main" id="14" idx="3"/>
          </p:cNvCxnSpPr>
          <p:nvPr/>
        </p:nvCxnSpPr>
        <p:spPr>
          <a:xfrm xmlns:a="http://schemas.openxmlformats.org/drawingml/2006/main" flipH="1">
            <a:off x="2714625" y="4438650"/>
            <a:ext cx="666750" cy="0"/>
          </a:xfrm>
          <a:prstGeom xmlns:a="http://schemas.openxmlformats.org/drawingml/2006/main" prst="straightConnector1">
            <a:avLst/>
          </a:prstGeom>
          <a:ln xmlns:a="http://schemas.openxmlformats.org/drawingml/2006/main" w="20955">
            <a:solidFill>
              <a:srgbClr val="526571"/>
            </a:solidFill>
            <a:tailEnd type="triangle" w="med" len="med"/>
          </a:ln>
        </p:spPr>
      </p:cxnSp>
      <p:sp>
        <p:nvSpPr>
          <p:cNvPr id="19" name="diagram-31">
            <a:extLst xmlns:a="http://schemas.openxmlformats.org/drawingml/2006/main">
              <a:ext uri="{FF2B5EF4-FFF2-40B4-BE49-F238E27FC236}">
                <a16:creationId xmlns:a16="http://schemas.microsoft.com/office/drawing/2014/main" id="{30622A4A-2926-4A77-8BBE-F1C3A9E0F99D}"/>
              </a:ext>
            </a:extLst>
          </p:cNvPr>
          <p:cNvSpPr>
            <a:spLocks xmlns:a="http://schemas.openxmlformats.org/drawingml/2006/main" noGrp="1"/>
          </p:cNvSpPr>
          <p:nvPr/>
        </p:nvSpPr>
        <p:spPr>
          <a:xfrm xmlns:a="http://schemas.openxmlformats.org/drawingml/2006/main">
            <a:off x="11315700" y="5314950"/>
            <a:ext cx="19050" cy="19050"/>
          </a:xfrm>
          <a:prstGeom xmlns:a="http://schemas.openxmlformats.org/drawingml/2006/main" prst="rect">
            <a:avLst/>
          </a:prstGeom>
          <a:solidFill xmlns:a="http://schemas.openxmlformats.org/drawingml/2006/main">
            <a:srgbClr val="526571"/>
          </a:solidFill>
          <a:ln xmlns:a="http://schemas.openxmlformats.org/drawingml/2006/main" w="14288">
            <a:solidFill>
              <a:srgbClr val="526571"/>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r>
              <a:t/>
            </a:r>
          </a:p>
        </p:txBody>
      </p:sp>
      <p:sp>
        <p:nvSpPr>
          <p:cNvPr id="20" name="diagram-32">
            <a:extLst xmlns:a="http://schemas.openxmlformats.org/drawingml/2006/main">
              <a:ext uri="{FF2B5EF4-FFF2-40B4-BE49-F238E27FC236}">
                <a16:creationId xmlns:a16="http://schemas.microsoft.com/office/drawing/2014/main" id="{2A2CC9DB-213F-45DC-8137-992AF3028D9B}"/>
              </a:ext>
            </a:extLst>
          </p:cNvPr>
          <p:cNvSpPr>
            <a:spLocks xmlns:a="http://schemas.openxmlformats.org/drawingml/2006/main" noGrp="1"/>
          </p:cNvSpPr>
          <p:nvPr/>
        </p:nvSpPr>
        <p:spPr>
          <a:xfrm xmlns:a="http://schemas.openxmlformats.org/drawingml/2006/main">
            <a:off x="285750" y="5314950"/>
            <a:ext cx="19050" cy="19050"/>
          </a:xfrm>
          <a:prstGeom xmlns:a="http://schemas.openxmlformats.org/drawingml/2006/main" prst="rect">
            <a:avLst/>
          </a:prstGeom>
          <a:solidFill xmlns:a="http://schemas.openxmlformats.org/drawingml/2006/main">
            <a:srgbClr val="526571"/>
          </a:solidFill>
          <a:ln xmlns:a="http://schemas.openxmlformats.org/drawingml/2006/main" w="14288">
            <a:solidFill>
              <a:srgbClr val="526571"/>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r>
              <a:t/>
            </a:r>
          </a:p>
        </p:txBody>
      </p:sp>
      <p:cxnSp>
        <p:nvCxnSpPr>
          <p:cNvPr id="47" name=""/>
          <p:cNvCxnSpPr>
            <a:stCxn xmlns:a="http://schemas.openxmlformats.org/drawingml/2006/main" id="11" idx="3"/>
            <a:endCxn xmlns:a="http://schemas.openxmlformats.org/drawingml/2006/main" id="19" idx="0"/>
          </p:cNvCxnSpPr>
          <p:nvPr/>
        </p:nvCxnSpPr>
        <p:spPr>
          <a:xfrm xmlns:a="http://schemas.openxmlformats.org/drawingml/2006/main">
            <a:off x="10858500" y="4438650"/>
            <a:ext cx="466725" cy="876300"/>
          </a:xfrm>
          <a:prstGeom xmlns:a="http://schemas.openxmlformats.org/drawingml/2006/main" prst="bentConnector2">
            <a:avLst/>
          </a:prstGeom>
          <a:ln xmlns:a="http://schemas.openxmlformats.org/drawingml/2006/main" w="20955">
            <a:solidFill>
              <a:srgbClr val="526571"/>
            </a:solidFill>
            <a:tailEnd type="triangle" w="med" len="med"/>
          </a:ln>
        </p:spPr>
      </p:cxnSp>
      <p:cxnSp>
        <p:nvCxnSpPr>
          <p:cNvPr id="48" name=""/>
          <p:cNvCxnSpPr>
            <a:stCxn xmlns:a="http://schemas.openxmlformats.org/drawingml/2006/main" id="19" idx="1"/>
            <a:endCxn xmlns:a="http://schemas.openxmlformats.org/drawingml/2006/main" id="20" idx="3"/>
          </p:cNvCxnSpPr>
          <p:nvPr/>
        </p:nvCxnSpPr>
        <p:spPr>
          <a:xfrm xmlns:a="http://schemas.openxmlformats.org/drawingml/2006/main" flipH="1">
            <a:off x="304800" y="5324475"/>
            <a:ext cx="11010900" cy="0"/>
          </a:xfrm>
          <a:prstGeom xmlns:a="http://schemas.openxmlformats.org/drawingml/2006/main" prst="straightConnector1">
            <a:avLst/>
          </a:prstGeom>
          <a:ln xmlns:a="http://schemas.openxmlformats.org/drawingml/2006/main" w="20955">
            <a:solidFill>
              <a:srgbClr val="526571"/>
            </a:solidFill>
            <a:tailEnd type="triangle" w="med" len="med"/>
          </a:ln>
        </p:spPr>
      </p:cxnSp>
      <p:cxnSp>
        <p:nvCxnSpPr>
          <p:cNvPr id="49" name=""/>
          <p:cNvCxnSpPr>
            <a:stCxn xmlns:a="http://schemas.openxmlformats.org/drawingml/2006/main" id="20" idx="0"/>
            <a:endCxn xmlns:a="http://schemas.openxmlformats.org/drawingml/2006/main" id="4" idx="1"/>
          </p:cNvCxnSpPr>
          <p:nvPr/>
        </p:nvCxnSpPr>
        <p:spPr>
          <a:xfrm xmlns:a="http://schemas.openxmlformats.org/drawingml/2006/main" flipV="1">
            <a:off x="295275" y="2719388"/>
            <a:ext cx="323850" cy="2595563"/>
          </a:xfrm>
          <a:prstGeom xmlns:a="http://schemas.openxmlformats.org/drawingml/2006/main" prst="bentConnector5">
            <a:avLst>
              <a:gd name="adj1" fmla="val 0"/>
              <a:gd name="adj2" fmla="val 8807"/>
              <a:gd name="adj3" fmla="val 29412"/>
            </a:avLst>
          </a:prstGeom>
          <a:ln xmlns:a="http://schemas.openxmlformats.org/drawingml/2006/main" w="20955">
            <a:solidFill>
              <a:srgbClr val="526571"/>
            </a:solidFill>
            <a:tailEnd type="triangle" w="med" len="med"/>
          </a:ln>
        </p:spPr>
      </p:cxnSp>
      <p:sp>
        <p:nvSpPr>
          <p:cNvPr id="24" name="text-33">
            <a:extLst xmlns:a="http://schemas.openxmlformats.org/drawingml/2006/main">
              <a:ext uri="{FF2B5EF4-FFF2-40B4-BE49-F238E27FC236}">
                <a16:creationId xmlns:a16="http://schemas.microsoft.com/office/drawing/2014/main" id="{944AB140-FC51-4DBD-8746-7CC5B523E159}"/>
              </a:ext>
            </a:extLst>
          </p:cNvPr>
          <p:cNvSpPr>
            <a:spLocks xmlns:a="http://schemas.openxmlformats.org/drawingml/2006/main" noGrp="1"/>
          </p:cNvSpPr>
          <p:nvPr/>
        </p:nvSpPr>
        <p:spPr>
          <a:xfrm xmlns:a="http://schemas.openxmlformats.org/drawingml/2006/main">
            <a:off x="3905250" y="5495925"/>
            <a:ext cx="561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6B65"/>
                </a:solidFill>
                <a:latin typeface="Arial"/>
                <a:ea typeface="Arial"/>
                <a:cs typeface="Arial"/>
              </a:defRPr>
            </a:pPr>
            <a:r>
              <a:rPr sz="1800" b="1">
                <a:solidFill>
                  <a:srgbClr val="176B65"/>
                </a:solidFill>
                <a:latin typeface="Arial"/>
                <a:ea typeface="Arial"/>
                <a:cs typeface="Arial"/>
              </a:rPr>
              <a:t>Continue with the accepted critique</a:t>
            </a:r>
          </a:p>
        </p:txBody>
      </p:sp>
      <p:sp>
        <p:nvSpPr>
          <p:cNvPr id="25" name="text-34">
            <a:extLst xmlns:a="http://schemas.openxmlformats.org/drawingml/2006/main">
              <a:ext uri="{FF2B5EF4-FFF2-40B4-BE49-F238E27FC236}">
                <a16:creationId xmlns:a16="http://schemas.microsoft.com/office/drawing/2014/main" id="{460CD19E-4F88-4088-9561-E95FFDC44B43}"/>
              </a:ext>
            </a:extLst>
          </p:cNvPr>
          <p:cNvSpPr>
            <a:spLocks xmlns:a="http://schemas.openxmlformats.org/drawingml/2006/main" noGrp="1"/>
          </p:cNvSpPr>
          <p:nvPr/>
        </p:nvSpPr>
        <p:spPr>
          <a:xfrm xmlns:a="http://schemas.openxmlformats.org/drawingml/2006/main">
            <a:off x="8124825" y="4010025"/>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71"/>
                </a:solidFill>
                <a:latin typeface="Arial"/>
                <a:ea typeface="Arial"/>
                <a:cs typeface="Arial"/>
              </a:defRPr>
            </a:pPr>
            <a:r>
              <a:rPr sz="1650" b="0">
                <a:solidFill>
                  <a:srgbClr val="526571"/>
                </a:solidFill>
                <a:latin typeface="Arial"/>
                <a:ea typeface="Arial"/>
                <a:cs typeface="Arial"/>
              </a:rPr>
              <a:t>Stop</a:t>
            </a:r>
          </a:p>
        </p:txBody>
      </p:sp>
      <p:sp>
        <p:nvSpPr>
          <p:cNvPr id="26" name="text-35">
            <a:extLst xmlns:a="http://schemas.openxmlformats.org/drawingml/2006/main">
              <a:ext uri="{FF2B5EF4-FFF2-40B4-BE49-F238E27FC236}">
                <a16:creationId xmlns:a16="http://schemas.microsoft.com/office/drawing/2014/main" id="{AE276453-A019-4CD6-8B4C-6DBC0CF2CD2E}"/>
              </a:ext>
            </a:extLst>
          </p:cNvPr>
          <p:cNvSpPr>
            <a:spLocks xmlns:a="http://schemas.openxmlformats.org/drawingml/2006/main" noGrp="1"/>
          </p:cNvSpPr>
          <p:nvPr/>
        </p:nvSpPr>
        <p:spPr>
          <a:xfrm xmlns:a="http://schemas.openxmlformats.org/drawingml/2006/main">
            <a:off x="619125" y="6019800"/>
            <a:ext cx="10810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1"/>
                </a:solidFill>
                <a:latin typeface="Arial"/>
                <a:ea typeface="Arial"/>
                <a:cs typeface="Arial"/>
              </a:defRPr>
            </a:pPr>
            <a:r>
              <a:rPr sz="1800" b="0">
                <a:solidFill>
                  <a:srgbClr val="526571"/>
                </a:solidFill>
                <a:latin typeface="Arial"/>
                <a:ea typeface="Arial"/>
                <a:cs typeface="Arial"/>
              </a:rPr>
              <a:t>Invalid output gets bounded repair in the same turn. Reporting can fail independently.</a:t>
            </a:r>
          </a:p>
        </p:txBody>
      </p:sp>
    </p:spTree>
    <p:extLst>
      <p:ext uri="{BB962C8B-B14F-4D97-AF65-F5344CB8AC3E}">
        <p14:creationId xmlns:p14="http://schemas.microsoft.com/office/powerpoint/2010/main" val="178140325"/>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text-36">
            <a:extLst xmlns:a="http://schemas.openxmlformats.org/drawingml/2006/main">
              <a:ext uri="{FF2B5EF4-FFF2-40B4-BE49-F238E27FC236}">
                <a16:creationId xmlns:a16="http://schemas.microsoft.com/office/drawing/2014/main" id="{0795AFCA-5662-4A06-AA45-28B8B926BF40}"/>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B3A"/>
                </a:solidFill>
                <a:latin typeface="Arial"/>
                <a:ea typeface="Arial"/>
                <a:cs typeface="Arial"/>
              </a:defRPr>
            </a:pPr>
            <a:r>
              <a:rPr sz="3450" b="1">
                <a:solidFill>
                  <a:srgbClr val="122B3A"/>
                </a:solidFill>
                <a:latin typeface="Arial"/>
                <a:ea typeface="Arial"/>
                <a:cs typeface="Arial"/>
              </a:rPr>
              <a:t>Proposer: a defensible scope</a:t>
            </a:r>
          </a:p>
        </p:txBody>
      </p:sp>
      <p:sp>
        <p:nvSpPr>
          <p:cNvPr id="2" name="text-37">
            <a:extLst xmlns:a="http://schemas.openxmlformats.org/drawingml/2006/main">
              <a:ext uri="{FF2B5EF4-FFF2-40B4-BE49-F238E27FC236}">
                <a16:creationId xmlns:a16="http://schemas.microsoft.com/office/drawing/2014/main" id="{1D5CBF43-CD0F-467F-B090-7CC9FCEEE05E}"/>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26571"/>
                </a:solidFill>
                <a:latin typeface="Arial"/>
                <a:ea typeface="Arial"/>
                <a:cs typeface="Arial"/>
              </a:defRPr>
            </a:pPr>
            <a:r>
              <a:rPr sz="1500" b="0">
                <a:solidFill>
                  <a:srgbClr val="526571"/>
                </a:solidFill>
                <a:latin typeface="Arial"/>
                <a:ea typeface="Arial"/>
                <a:cs typeface="Arial"/>
              </a:rPr>
              <a:t>05</a:t>
            </a:r>
          </a:p>
        </p:txBody>
      </p:sp>
      <p:sp>
        <p:nvSpPr>
          <p:cNvPr id="3" name="text-38">
            <a:extLst xmlns:a="http://schemas.openxmlformats.org/drawingml/2006/main">
              <a:ext uri="{FF2B5EF4-FFF2-40B4-BE49-F238E27FC236}">
                <a16:creationId xmlns:a16="http://schemas.microsoft.com/office/drawing/2014/main" id="{3DA2D69E-5DF8-4A77-A486-2E34518E9688}"/>
              </a:ext>
            </a:extLst>
          </p:cNvPr>
          <p:cNvSpPr>
            <a:spLocks xmlns:a="http://schemas.openxmlformats.org/drawingml/2006/main" noGrp="1"/>
          </p:cNvSpPr>
          <p:nvPr/>
        </p:nvSpPr>
        <p:spPr>
          <a:xfrm xmlns:a="http://schemas.openxmlformats.org/drawingml/2006/main">
            <a:off x="619125" y="1714500"/>
            <a:ext cx="481012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315CCB"/>
                </a:solidFill>
                <a:latin typeface="Arial"/>
                <a:ea typeface="Arial"/>
                <a:cs typeface="Arial"/>
              </a:defRPr>
            </a:pPr>
            <a:r>
              <a:rPr sz="2925" b="1">
                <a:solidFill>
                  <a:srgbClr val="315CCB"/>
                </a:solidFill>
                <a:latin typeface="Arial"/>
                <a:ea typeface="Arial"/>
                <a:cs typeface="Arial"/>
              </a:rPr>
              <a:t>“The Critic’s confidence, repetition, or preference alone is not a reason to change your position.”</a:t>
            </a:r>
          </a:p>
        </p:txBody>
      </p:sp>
      <p:sp>
        <p:nvSpPr>
          <p:cNvPr id="4" name="text-39">
            <a:extLst xmlns:a="http://schemas.openxmlformats.org/drawingml/2006/main">
              <a:ext uri="{FF2B5EF4-FFF2-40B4-BE49-F238E27FC236}">
                <a16:creationId xmlns:a16="http://schemas.microsoft.com/office/drawing/2014/main" id="{342F66C6-A909-45AB-9F79-17034896E01C}"/>
              </a:ext>
            </a:extLst>
          </p:cNvPr>
          <p:cNvSpPr>
            <a:spLocks xmlns:a="http://schemas.openxmlformats.org/drawingml/2006/main" noGrp="1"/>
          </p:cNvSpPr>
          <p:nvPr/>
        </p:nvSpPr>
        <p:spPr>
          <a:xfrm xmlns:a="http://schemas.openxmlformats.org/drawingml/2006/main">
            <a:off x="6143625" y="16764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2B3A"/>
                </a:solidFill>
                <a:latin typeface="Arial"/>
                <a:ea typeface="Arial"/>
                <a:cs typeface="Arial"/>
              </a:defRPr>
            </a:pPr>
            <a:r>
              <a:rPr sz="2100" b="1">
                <a:solidFill>
                  <a:srgbClr val="122B3A"/>
                </a:solidFill>
                <a:latin typeface="Arial"/>
                <a:ea typeface="Arial"/>
                <a:cs typeface="Arial"/>
              </a:rPr>
              <a:t>Separate facts from assumptions</a:t>
            </a:r>
          </a:p>
        </p:txBody>
      </p:sp>
      <p:sp>
        <p:nvSpPr>
          <p:cNvPr id="5" name="text-40">
            <a:extLst xmlns:a="http://schemas.openxmlformats.org/drawingml/2006/main">
              <a:ext uri="{FF2B5EF4-FFF2-40B4-BE49-F238E27FC236}">
                <a16:creationId xmlns:a16="http://schemas.microsoft.com/office/drawing/2014/main" id="{6D2FE584-CCB0-4366-B2EE-AEB9F25C9A74}"/>
              </a:ext>
            </a:extLst>
          </p:cNvPr>
          <p:cNvSpPr>
            <a:spLocks xmlns:a="http://schemas.openxmlformats.org/drawingml/2006/main" noGrp="1"/>
          </p:cNvSpPr>
          <p:nvPr/>
        </p:nvSpPr>
        <p:spPr>
          <a:xfrm xmlns:a="http://schemas.openxmlformats.org/drawingml/2006/main">
            <a:off x="6143625" y="21145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1"/>
                </a:solidFill>
                <a:latin typeface="Arial"/>
                <a:ea typeface="Arial"/>
                <a:cs typeface="Arial"/>
              </a:defRPr>
            </a:pPr>
            <a:r>
              <a:rPr sz="1950" b="0">
                <a:solidFill>
                  <a:srgbClr val="526571"/>
                </a:solidFill>
                <a:latin typeface="Arial"/>
                <a:ea typeface="Arial"/>
                <a:cs typeface="Arial"/>
              </a:rPr>
              <a:t>Avoid inventing policies or presenting proposed targets as established facts.</a:t>
            </a:r>
          </a:p>
        </p:txBody>
      </p:sp>
      <p:sp>
        <p:nvSpPr>
          <p:cNvPr id="6" name="text-41">
            <a:extLst xmlns:a="http://schemas.openxmlformats.org/drawingml/2006/main">
              <a:ext uri="{FF2B5EF4-FFF2-40B4-BE49-F238E27FC236}">
                <a16:creationId xmlns:a16="http://schemas.microsoft.com/office/drawing/2014/main" id="{DC8BE0E9-E654-44E5-BF93-8B79216B379C}"/>
              </a:ext>
            </a:extLst>
          </p:cNvPr>
          <p:cNvSpPr>
            <a:spLocks xmlns:a="http://schemas.openxmlformats.org/drawingml/2006/main" noGrp="1"/>
          </p:cNvSpPr>
          <p:nvPr/>
        </p:nvSpPr>
        <p:spPr>
          <a:xfrm xmlns:a="http://schemas.openxmlformats.org/drawingml/2006/main">
            <a:off x="6143625" y="31051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2B3A"/>
                </a:solidFill>
                <a:latin typeface="Arial"/>
                <a:ea typeface="Arial"/>
                <a:cs typeface="Arial"/>
              </a:defRPr>
            </a:pPr>
            <a:r>
              <a:rPr sz="2100" b="1">
                <a:solidFill>
                  <a:srgbClr val="122B3A"/>
                </a:solidFill>
                <a:latin typeface="Arial"/>
                <a:ea typeface="Arial"/>
                <a:cs typeface="Arial"/>
              </a:rPr>
              <a:t>Explain each response</a:t>
            </a:r>
          </a:p>
        </p:txBody>
      </p:sp>
      <p:sp>
        <p:nvSpPr>
          <p:cNvPr id="7" name="text-42">
            <a:extLst xmlns:a="http://schemas.openxmlformats.org/drawingml/2006/main">
              <a:ext uri="{FF2B5EF4-FFF2-40B4-BE49-F238E27FC236}">
                <a16:creationId xmlns:a16="http://schemas.microsoft.com/office/drawing/2014/main" id="{F71C9E08-6F72-4DB0-918E-DA930A4B7511}"/>
              </a:ext>
            </a:extLst>
          </p:cNvPr>
          <p:cNvSpPr>
            <a:spLocks xmlns:a="http://schemas.openxmlformats.org/drawingml/2006/main" noGrp="1"/>
          </p:cNvSpPr>
          <p:nvPr/>
        </p:nvSpPr>
        <p:spPr>
          <a:xfrm xmlns:a="http://schemas.openxmlformats.org/drawingml/2006/main">
            <a:off x="6143625" y="354330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1"/>
                </a:solidFill>
                <a:latin typeface="Arial"/>
                <a:ea typeface="Arial"/>
                <a:cs typeface="Arial"/>
              </a:defRPr>
            </a:pPr>
            <a:r>
              <a:rPr sz="1950" b="0">
                <a:solidFill>
                  <a:srgbClr val="526571"/>
                </a:solidFill>
                <a:latin typeface="Arial"/>
                <a:ea typeface="Arial"/>
                <a:cs typeface="Arial"/>
              </a:rPr>
              <a:t>Defend, revise, or concede because the argument warrants it.</a:t>
            </a:r>
          </a:p>
        </p:txBody>
      </p:sp>
      <p:sp>
        <p:nvSpPr>
          <p:cNvPr id="8" name="text-43">
            <a:extLst xmlns:a="http://schemas.openxmlformats.org/drawingml/2006/main">
              <a:ext uri="{FF2B5EF4-FFF2-40B4-BE49-F238E27FC236}">
                <a16:creationId xmlns:a16="http://schemas.microsoft.com/office/drawing/2014/main" id="{6F600A51-E6F3-45EE-AD06-6B03D55F0A9A}"/>
              </a:ext>
            </a:extLst>
          </p:cNvPr>
          <p:cNvSpPr>
            <a:spLocks xmlns:a="http://schemas.openxmlformats.org/drawingml/2006/main" noGrp="1"/>
          </p:cNvSpPr>
          <p:nvPr/>
        </p:nvSpPr>
        <p:spPr>
          <a:xfrm xmlns:a="http://schemas.openxmlformats.org/drawingml/2006/main">
            <a:off x="6143625" y="45339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2B3A"/>
                </a:solidFill>
                <a:latin typeface="Arial"/>
                <a:ea typeface="Arial"/>
                <a:cs typeface="Arial"/>
              </a:defRPr>
            </a:pPr>
            <a:r>
              <a:rPr sz="2100" b="1">
                <a:solidFill>
                  <a:srgbClr val="122B3A"/>
                </a:solidFill>
                <a:latin typeface="Arial"/>
                <a:ea typeface="Arial"/>
                <a:cs typeface="Arial"/>
              </a:rPr>
              <a:t>Update the whole proposal</a:t>
            </a:r>
          </a:p>
        </p:txBody>
      </p:sp>
      <p:sp>
        <p:nvSpPr>
          <p:cNvPr id="9" name="text-44">
            <a:extLst xmlns:a="http://schemas.openxmlformats.org/drawingml/2006/main">
              <a:ext uri="{FF2B5EF4-FFF2-40B4-BE49-F238E27FC236}">
                <a16:creationId xmlns:a16="http://schemas.microsoft.com/office/drawing/2014/main" id="{6D8FDD27-DBCE-4D93-B993-010D4121D87F}"/>
              </a:ext>
            </a:extLst>
          </p:cNvPr>
          <p:cNvSpPr>
            <a:spLocks xmlns:a="http://schemas.openxmlformats.org/drawingml/2006/main" noGrp="1"/>
          </p:cNvSpPr>
          <p:nvPr/>
        </p:nvSpPr>
        <p:spPr>
          <a:xfrm xmlns:a="http://schemas.openxmlformats.org/drawingml/2006/main">
            <a:off x="6143625" y="49720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1"/>
                </a:solidFill>
                <a:latin typeface="Arial"/>
                <a:ea typeface="Arial"/>
                <a:cs typeface="Arial"/>
              </a:defRPr>
            </a:pPr>
            <a:r>
              <a:rPr sz="1950" b="0">
                <a:solidFill>
                  <a:srgbClr val="526571"/>
                </a:solidFill>
                <a:latin typeface="Arial"/>
                <a:ea typeface="Arial"/>
                <a:cs typeface="Arial"/>
              </a:rPr>
              <a:t>Carry revisions into scope, conditions, assumptions, and success criteria.</a:t>
            </a:r>
          </a:p>
        </p:txBody>
      </p:sp>
      <p:sp>
        <p:nvSpPr>
          <p:cNvPr id="10" name="text-45">
            <a:extLst xmlns:a="http://schemas.openxmlformats.org/drawingml/2006/main">
              <a:ext uri="{FF2B5EF4-FFF2-40B4-BE49-F238E27FC236}">
                <a16:creationId xmlns:a16="http://schemas.microsoft.com/office/drawing/2014/main" id="{C4A03ED9-21E7-4AEC-A210-4EA39E7A6675}"/>
              </a:ext>
            </a:extLst>
          </p:cNvPr>
          <p:cNvSpPr>
            <a:spLocks xmlns:a="http://schemas.openxmlformats.org/drawingml/2006/main" noGrp="1"/>
          </p:cNvSpPr>
          <p:nvPr/>
        </p:nvSpPr>
        <p:spPr>
          <a:xfrm xmlns:a="http://schemas.openxmlformats.org/drawingml/2006/main">
            <a:off x="638175" y="581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315CCB"/>
                </a:solidFill>
                <a:latin typeface="Arial"/>
                <a:ea typeface="Arial"/>
                <a:cs typeface="Arial"/>
              </a:defRPr>
            </a:pPr>
            <a:r>
              <a:rPr sz="1725" b="1">
                <a:solidFill>
                  <a:srgbClr val="315CCB"/>
                </a:solidFill>
                <a:latin typeface="Arial"/>
                <a:ea typeface="Arial"/>
                <a:cs typeface="Arial"/>
                <a:hlinkClick xmlns:r="http://schemas.openxmlformats.org/officeDocument/2006/relationships" r:id="R6bf0d94fcf154178"/>
              </a:rPr>
              <a:t>proposer.md</a:t>
            </a:r>
          </a:p>
        </p:txBody>
      </p:sp>
    </p:spTree>
    <p:extLst>
      <p:ext uri="{BB962C8B-B14F-4D97-AF65-F5344CB8AC3E}">
        <p14:creationId xmlns:p14="http://schemas.microsoft.com/office/powerpoint/2010/main" val="1341258853"/>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text-46">
            <a:extLst xmlns:a="http://schemas.openxmlformats.org/drawingml/2006/main">
              <a:ext uri="{FF2B5EF4-FFF2-40B4-BE49-F238E27FC236}">
                <a16:creationId xmlns:a16="http://schemas.microsoft.com/office/drawing/2014/main" id="{8A9CAFD4-EF76-4E05-A604-B4E75642C973}"/>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B3A"/>
                </a:solidFill>
                <a:latin typeface="Arial"/>
                <a:ea typeface="Arial"/>
                <a:cs typeface="Arial"/>
              </a:defRPr>
            </a:pPr>
            <a:r>
              <a:rPr sz="3450" b="1">
                <a:solidFill>
                  <a:srgbClr val="122B3A"/>
                </a:solidFill>
                <a:latin typeface="Arial"/>
                <a:ea typeface="Arial"/>
                <a:cs typeface="Arial"/>
              </a:rPr>
              <a:t>Critic: specific, actionable challenges</a:t>
            </a:r>
          </a:p>
        </p:txBody>
      </p:sp>
      <p:sp>
        <p:nvSpPr>
          <p:cNvPr id="2" name="text-47">
            <a:extLst xmlns:a="http://schemas.openxmlformats.org/drawingml/2006/main">
              <a:ext uri="{FF2B5EF4-FFF2-40B4-BE49-F238E27FC236}">
                <a16:creationId xmlns:a16="http://schemas.microsoft.com/office/drawing/2014/main" id="{98B60AF9-A61E-4C11-8464-A21D823B5F3E}"/>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26571"/>
                </a:solidFill>
                <a:latin typeface="Arial"/>
                <a:ea typeface="Arial"/>
                <a:cs typeface="Arial"/>
              </a:defRPr>
            </a:pPr>
            <a:r>
              <a:rPr sz="1500" b="0">
                <a:solidFill>
                  <a:srgbClr val="526571"/>
                </a:solidFill>
                <a:latin typeface="Arial"/>
                <a:ea typeface="Arial"/>
                <a:cs typeface="Arial"/>
              </a:rPr>
              <a:t>06</a:t>
            </a:r>
          </a:p>
        </p:txBody>
      </p:sp>
      <p:sp>
        <p:nvSpPr>
          <p:cNvPr id="3" name="text-48">
            <a:extLst xmlns:a="http://schemas.openxmlformats.org/drawingml/2006/main">
              <a:ext uri="{FF2B5EF4-FFF2-40B4-BE49-F238E27FC236}">
                <a16:creationId xmlns:a16="http://schemas.microsoft.com/office/drawing/2014/main" id="{939BBEA0-8066-4344-8B0B-A83C64B7FF96}"/>
              </a:ext>
            </a:extLst>
          </p:cNvPr>
          <p:cNvSpPr>
            <a:spLocks xmlns:a="http://schemas.openxmlformats.org/drawingml/2006/main" noGrp="1"/>
          </p:cNvSpPr>
          <p:nvPr/>
        </p:nvSpPr>
        <p:spPr>
          <a:xfrm xmlns:a="http://schemas.openxmlformats.org/drawingml/2006/main">
            <a:off x="619125" y="1714500"/>
            <a:ext cx="481012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B65"/>
                </a:solidFill>
                <a:latin typeface="Arial"/>
                <a:ea typeface="Arial"/>
                <a:cs typeface="Arial"/>
              </a:defRPr>
            </a:pPr>
            <a:r>
              <a:rPr sz="2925" b="1">
                <a:solidFill>
                  <a:srgbClr val="176B65"/>
                </a:solidFill>
                <a:latin typeface="Arial"/>
                <a:ea typeface="Arial"/>
                <a:cs typeface="Arial"/>
              </a:rPr>
              <a:t>“Do not repeat an objection without addressing the response.”</a:t>
            </a:r>
          </a:p>
        </p:txBody>
      </p:sp>
      <p:sp>
        <p:nvSpPr>
          <p:cNvPr id="4" name="text-49">
            <a:extLst xmlns:a="http://schemas.openxmlformats.org/drawingml/2006/main">
              <a:ext uri="{FF2B5EF4-FFF2-40B4-BE49-F238E27FC236}">
                <a16:creationId xmlns:a16="http://schemas.microsoft.com/office/drawing/2014/main" id="{8B72CA03-1372-4C0C-80C4-F6A73252F649}"/>
              </a:ext>
            </a:extLst>
          </p:cNvPr>
          <p:cNvSpPr>
            <a:spLocks xmlns:a="http://schemas.openxmlformats.org/drawingml/2006/main" noGrp="1"/>
          </p:cNvSpPr>
          <p:nvPr/>
        </p:nvSpPr>
        <p:spPr>
          <a:xfrm xmlns:a="http://schemas.openxmlformats.org/drawingml/2006/main">
            <a:off x="6143625" y="16764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2B3A"/>
                </a:solidFill>
                <a:latin typeface="Arial"/>
                <a:ea typeface="Arial"/>
                <a:cs typeface="Arial"/>
              </a:defRPr>
            </a:pPr>
            <a:r>
              <a:rPr sz="2100" b="1">
                <a:solidFill>
                  <a:srgbClr val="122B3A"/>
                </a:solidFill>
                <a:latin typeface="Arial"/>
                <a:ea typeface="Arial"/>
                <a:cs typeface="Arial"/>
              </a:rPr>
              <a:t>Make the challenge specific</a:t>
            </a:r>
          </a:p>
        </p:txBody>
      </p:sp>
      <p:sp>
        <p:nvSpPr>
          <p:cNvPr id="5" name="text-50">
            <a:extLst xmlns:a="http://schemas.openxmlformats.org/drawingml/2006/main">
              <a:ext uri="{FF2B5EF4-FFF2-40B4-BE49-F238E27FC236}">
                <a16:creationId xmlns:a16="http://schemas.microsoft.com/office/drawing/2014/main" id="{15B7D125-5D1E-464C-93C0-ECD75F0A773C}"/>
              </a:ext>
            </a:extLst>
          </p:cNvPr>
          <p:cNvSpPr>
            <a:spLocks xmlns:a="http://schemas.openxmlformats.org/drawingml/2006/main" noGrp="1"/>
          </p:cNvSpPr>
          <p:nvPr/>
        </p:nvSpPr>
        <p:spPr>
          <a:xfrm xmlns:a="http://schemas.openxmlformats.org/drawingml/2006/main">
            <a:off x="6143625" y="21145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1"/>
                </a:solidFill>
                <a:latin typeface="Arial"/>
                <a:ea typeface="Arial"/>
                <a:cs typeface="Arial"/>
              </a:defRPr>
            </a:pPr>
            <a:r>
              <a:rPr sz="1950" b="0">
                <a:solidFill>
                  <a:srgbClr val="526571"/>
                </a:solidFill>
                <a:latin typeface="Arial"/>
                <a:ea typeface="Arial"/>
                <a:cs typeface="Arial"/>
              </a:rPr>
              <a:t>Name the concern, its consequence, and what would address it.</a:t>
            </a:r>
          </a:p>
        </p:txBody>
      </p:sp>
      <p:sp>
        <p:nvSpPr>
          <p:cNvPr id="6" name="text-51">
            <a:extLst xmlns:a="http://schemas.openxmlformats.org/drawingml/2006/main">
              <a:ext uri="{FF2B5EF4-FFF2-40B4-BE49-F238E27FC236}">
                <a16:creationId xmlns:a16="http://schemas.microsoft.com/office/drawing/2014/main" id="{4BF96E3D-9FBB-4B7E-B3FD-9F0E4052FC30}"/>
              </a:ext>
            </a:extLst>
          </p:cNvPr>
          <p:cNvSpPr>
            <a:spLocks xmlns:a="http://schemas.openxmlformats.org/drawingml/2006/main" noGrp="1"/>
          </p:cNvSpPr>
          <p:nvPr/>
        </p:nvSpPr>
        <p:spPr>
          <a:xfrm xmlns:a="http://schemas.openxmlformats.org/drawingml/2006/main">
            <a:off x="6143625" y="31051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2B3A"/>
                </a:solidFill>
                <a:latin typeface="Arial"/>
                <a:ea typeface="Arial"/>
                <a:cs typeface="Arial"/>
              </a:defRPr>
            </a:pPr>
            <a:r>
              <a:rPr sz="2100" b="1">
                <a:solidFill>
                  <a:srgbClr val="122B3A"/>
                </a:solidFill>
                <a:latin typeface="Arial"/>
                <a:ea typeface="Arial"/>
                <a:cs typeface="Arial"/>
              </a:rPr>
              <a:t>Keep the scope proportionate</a:t>
            </a:r>
          </a:p>
        </p:txBody>
      </p:sp>
      <p:sp>
        <p:nvSpPr>
          <p:cNvPr id="7" name="text-52">
            <a:extLst xmlns:a="http://schemas.openxmlformats.org/drawingml/2006/main">
              <a:ext uri="{FF2B5EF4-FFF2-40B4-BE49-F238E27FC236}">
                <a16:creationId xmlns:a16="http://schemas.microsoft.com/office/drawing/2014/main" id="{F9D4ABCE-031E-4B34-B6B2-A7B40D09F0BA}"/>
              </a:ext>
            </a:extLst>
          </p:cNvPr>
          <p:cNvSpPr>
            <a:spLocks xmlns:a="http://schemas.openxmlformats.org/drawingml/2006/main" noGrp="1"/>
          </p:cNvSpPr>
          <p:nvPr/>
        </p:nvSpPr>
        <p:spPr>
          <a:xfrm xmlns:a="http://schemas.openxmlformats.org/drawingml/2006/main">
            <a:off x="6143625" y="354330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1"/>
                </a:solidFill>
                <a:latin typeface="Arial"/>
                <a:ea typeface="Arial"/>
                <a:cs typeface="Arial"/>
              </a:defRPr>
            </a:pPr>
            <a:r>
              <a:rPr sz="1950" b="0">
                <a:solidFill>
                  <a:srgbClr val="526571"/>
                </a:solidFill>
                <a:latin typeface="Arial"/>
                <a:ea typeface="Arial"/>
                <a:cs typeface="Arial"/>
              </a:rPr>
              <a:t>Separate necessary corrections from optional improvements.</a:t>
            </a:r>
          </a:p>
        </p:txBody>
      </p:sp>
      <p:sp>
        <p:nvSpPr>
          <p:cNvPr id="8" name="text-53">
            <a:extLst xmlns:a="http://schemas.openxmlformats.org/drawingml/2006/main">
              <a:ext uri="{FF2B5EF4-FFF2-40B4-BE49-F238E27FC236}">
                <a16:creationId xmlns:a16="http://schemas.microsoft.com/office/drawing/2014/main" id="{F498DA94-3AFA-46AA-8F20-D6259DFCBF66}"/>
              </a:ext>
            </a:extLst>
          </p:cNvPr>
          <p:cNvSpPr>
            <a:spLocks xmlns:a="http://schemas.openxmlformats.org/drawingml/2006/main" noGrp="1"/>
          </p:cNvSpPr>
          <p:nvPr/>
        </p:nvSpPr>
        <p:spPr>
          <a:xfrm xmlns:a="http://schemas.openxmlformats.org/drawingml/2006/main">
            <a:off x="6143625" y="45339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2B3A"/>
                </a:solidFill>
                <a:latin typeface="Arial"/>
                <a:ea typeface="Arial"/>
                <a:cs typeface="Arial"/>
              </a:defRPr>
            </a:pPr>
            <a:r>
              <a:rPr sz="2100" b="1">
                <a:solidFill>
                  <a:srgbClr val="122B3A"/>
                </a:solidFill>
                <a:latin typeface="Arial"/>
                <a:ea typeface="Arial"/>
                <a:cs typeface="Arial"/>
              </a:rPr>
              <a:t>Recognize a sufficient answer</a:t>
            </a:r>
          </a:p>
        </p:txBody>
      </p:sp>
      <p:sp>
        <p:nvSpPr>
          <p:cNvPr id="9" name="text-54">
            <a:extLst xmlns:a="http://schemas.openxmlformats.org/drawingml/2006/main">
              <a:ext uri="{FF2B5EF4-FFF2-40B4-BE49-F238E27FC236}">
                <a16:creationId xmlns:a16="http://schemas.microsoft.com/office/drawing/2014/main" id="{432206EA-0D20-4FA6-8CF2-600398FA22CE}"/>
              </a:ext>
            </a:extLst>
          </p:cNvPr>
          <p:cNvSpPr>
            <a:spLocks xmlns:a="http://schemas.openxmlformats.org/drawingml/2006/main" noGrp="1"/>
          </p:cNvSpPr>
          <p:nvPr/>
        </p:nvSpPr>
        <p:spPr>
          <a:xfrm xmlns:a="http://schemas.openxmlformats.org/drawingml/2006/main">
            <a:off x="6143625" y="49720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1"/>
                </a:solidFill>
                <a:latin typeface="Arial"/>
                <a:ea typeface="Arial"/>
                <a:cs typeface="Arial"/>
              </a:defRPr>
            </a:pPr>
            <a:r>
              <a:rPr sz="1950" b="0">
                <a:solidFill>
                  <a:srgbClr val="526571"/>
                </a:solidFill>
                <a:latin typeface="Arial"/>
                <a:ea typeface="Arial"/>
                <a:cs typeface="Arial"/>
              </a:rPr>
              <a:t>Accept supported defenses and actual revisions. Explain why another turn would help.</a:t>
            </a:r>
          </a:p>
        </p:txBody>
      </p:sp>
      <p:sp>
        <p:nvSpPr>
          <p:cNvPr id="10" name="text-55">
            <a:extLst xmlns:a="http://schemas.openxmlformats.org/drawingml/2006/main">
              <a:ext uri="{FF2B5EF4-FFF2-40B4-BE49-F238E27FC236}">
                <a16:creationId xmlns:a16="http://schemas.microsoft.com/office/drawing/2014/main" id="{A2E1C2C8-62D3-4287-8213-B46FC6D03ED2}"/>
              </a:ext>
            </a:extLst>
          </p:cNvPr>
          <p:cNvSpPr>
            <a:spLocks xmlns:a="http://schemas.openxmlformats.org/drawingml/2006/main" noGrp="1"/>
          </p:cNvSpPr>
          <p:nvPr/>
        </p:nvSpPr>
        <p:spPr>
          <a:xfrm xmlns:a="http://schemas.openxmlformats.org/drawingml/2006/main">
            <a:off x="638175" y="581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76B65"/>
                </a:solidFill>
                <a:latin typeface="Arial"/>
                <a:ea typeface="Arial"/>
                <a:cs typeface="Arial"/>
              </a:defRPr>
            </a:pPr>
            <a:r>
              <a:rPr sz="1725" b="1">
                <a:solidFill>
                  <a:srgbClr val="176B65"/>
                </a:solidFill>
                <a:latin typeface="Arial"/>
                <a:ea typeface="Arial"/>
                <a:cs typeface="Arial"/>
                <a:hlinkClick xmlns:r="http://schemas.openxmlformats.org/officeDocument/2006/relationships" r:id="R47a4b942882f49b3"/>
              </a:rPr>
              <a:t>critic.md</a:t>
            </a:r>
          </a:p>
        </p:txBody>
      </p:sp>
    </p:spTree>
    <p:extLst>
      <p:ext uri="{BB962C8B-B14F-4D97-AF65-F5344CB8AC3E}">
        <p14:creationId xmlns:p14="http://schemas.microsoft.com/office/powerpoint/2010/main" val="2031323256"/>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text-56">
            <a:extLst xmlns:a="http://schemas.openxmlformats.org/drawingml/2006/main">
              <a:ext uri="{FF2B5EF4-FFF2-40B4-BE49-F238E27FC236}">
                <a16:creationId xmlns:a16="http://schemas.microsoft.com/office/drawing/2014/main" id="{ADA320D8-2148-41CC-8272-080F19037DBC}"/>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B3A"/>
                </a:solidFill>
                <a:latin typeface="Arial"/>
                <a:ea typeface="Arial"/>
                <a:cs typeface="Arial"/>
              </a:defRPr>
            </a:pPr>
            <a:r>
              <a:rPr sz="3450" b="1">
                <a:solidFill>
                  <a:srgbClr val="122B3A"/>
                </a:solidFill>
                <a:latin typeface="Arial"/>
                <a:ea typeface="Arial"/>
                <a:cs typeface="Arial"/>
              </a:rPr>
              <a:t>Summarizer: decisions grounded in the dialogue</a:t>
            </a:r>
          </a:p>
        </p:txBody>
      </p:sp>
      <p:sp>
        <p:nvSpPr>
          <p:cNvPr id="2" name="text-57">
            <a:extLst xmlns:a="http://schemas.openxmlformats.org/drawingml/2006/main">
              <a:ext uri="{FF2B5EF4-FFF2-40B4-BE49-F238E27FC236}">
                <a16:creationId xmlns:a16="http://schemas.microsoft.com/office/drawing/2014/main" id="{30723899-3C62-40A3-A5C4-1049E812CBC8}"/>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26571"/>
                </a:solidFill>
                <a:latin typeface="Arial"/>
                <a:ea typeface="Arial"/>
                <a:cs typeface="Arial"/>
              </a:defRPr>
            </a:pPr>
            <a:r>
              <a:rPr sz="1500" b="0">
                <a:solidFill>
                  <a:srgbClr val="526571"/>
                </a:solidFill>
                <a:latin typeface="Arial"/>
                <a:ea typeface="Arial"/>
                <a:cs typeface="Arial"/>
              </a:rPr>
              <a:t>07</a:t>
            </a:r>
          </a:p>
        </p:txBody>
      </p:sp>
      <p:sp>
        <p:nvSpPr>
          <p:cNvPr id="3" name="text-58">
            <a:extLst xmlns:a="http://schemas.openxmlformats.org/drawingml/2006/main">
              <a:ext uri="{FF2B5EF4-FFF2-40B4-BE49-F238E27FC236}">
                <a16:creationId xmlns:a16="http://schemas.microsoft.com/office/drawing/2014/main" id="{5ECDDA78-4A64-4B2E-94D2-26F2CC86BBFD}"/>
              </a:ext>
            </a:extLst>
          </p:cNvPr>
          <p:cNvSpPr>
            <a:spLocks xmlns:a="http://schemas.openxmlformats.org/drawingml/2006/main" noGrp="1"/>
          </p:cNvSpPr>
          <p:nvPr/>
        </p:nvSpPr>
        <p:spPr>
          <a:xfrm xmlns:a="http://schemas.openxmlformats.org/drawingml/2006/main">
            <a:off x="619125" y="1714500"/>
            <a:ext cx="481012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54E39"/>
                </a:solidFill>
                <a:latin typeface="Arial"/>
                <a:ea typeface="Arial"/>
                <a:cs typeface="Arial"/>
              </a:defRPr>
            </a:pPr>
            <a:r>
              <a:rPr sz="2925" b="1">
                <a:solidFill>
                  <a:srgbClr val="A54E39"/>
                </a:solidFill>
                <a:latin typeface="Arial"/>
                <a:ea typeface="Arial"/>
                <a:cs typeface="Arial"/>
              </a:rPr>
              <a:t>“A general complete signal does not establish agreement on every detail.”</a:t>
            </a:r>
          </a:p>
        </p:txBody>
      </p:sp>
      <p:sp>
        <p:nvSpPr>
          <p:cNvPr id="4" name="text-59">
            <a:extLst xmlns:a="http://schemas.openxmlformats.org/drawingml/2006/main">
              <a:ext uri="{FF2B5EF4-FFF2-40B4-BE49-F238E27FC236}">
                <a16:creationId xmlns:a16="http://schemas.microsoft.com/office/drawing/2014/main" id="{F6955CE7-7444-436D-8043-91E4CED84064}"/>
              </a:ext>
            </a:extLst>
          </p:cNvPr>
          <p:cNvSpPr>
            <a:spLocks xmlns:a="http://schemas.openxmlformats.org/drawingml/2006/main" noGrp="1"/>
          </p:cNvSpPr>
          <p:nvPr/>
        </p:nvSpPr>
        <p:spPr>
          <a:xfrm xmlns:a="http://schemas.openxmlformats.org/drawingml/2006/main">
            <a:off x="6143625" y="16764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2B3A"/>
                </a:solidFill>
                <a:latin typeface="Arial"/>
                <a:ea typeface="Arial"/>
                <a:cs typeface="Arial"/>
              </a:defRPr>
            </a:pPr>
            <a:r>
              <a:rPr sz="2100" b="1">
                <a:solidFill>
                  <a:srgbClr val="122B3A"/>
                </a:solidFill>
                <a:latin typeface="Arial"/>
                <a:ea typeface="Arial"/>
                <a:cs typeface="Arial"/>
              </a:rPr>
              <a:t>Find support before classification</a:t>
            </a:r>
          </a:p>
        </p:txBody>
      </p:sp>
      <p:sp>
        <p:nvSpPr>
          <p:cNvPr id="5" name="text-60">
            <a:extLst xmlns:a="http://schemas.openxmlformats.org/drawingml/2006/main">
              <a:ext uri="{FF2B5EF4-FFF2-40B4-BE49-F238E27FC236}">
                <a16:creationId xmlns:a16="http://schemas.microsoft.com/office/drawing/2014/main" id="{3B7B24FF-60DE-44ED-A953-6E7A62789168}"/>
              </a:ext>
            </a:extLst>
          </p:cNvPr>
          <p:cNvSpPr>
            <a:spLocks xmlns:a="http://schemas.openxmlformats.org/drawingml/2006/main" noGrp="1"/>
          </p:cNvSpPr>
          <p:nvPr/>
        </p:nvSpPr>
        <p:spPr>
          <a:xfrm xmlns:a="http://schemas.openxmlformats.org/drawingml/2006/main">
            <a:off x="6143625" y="21145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1"/>
                </a:solidFill>
                <a:latin typeface="Arial"/>
                <a:ea typeface="Arial"/>
                <a:cs typeface="Arial"/>
              </a:defRPr>
            </a:pPr>
            <a:r>
              <a:rPr sz="1950" b="0">
                <a:solidFill>
                  <a:srgbClr val="526571"/>
                </a:solidFill>
                <a:latin typeface="Arial"/>
                <a:ea typeface="Arial"/>
                <a:cs typeface="Arial"/>
              </a:rPr>
              <a:t>Check the proposal, the Critic’s response, and later qualifications.</a:t>
            </a:r>
          </a:p>
        </p:txBody>
      </p:sp>
      <p:sp>
        <p:nvSpPr>
          <p:cNvPr id="6" name="text-61">
            <a:extLst xmlns:a="http://schemas.openxmlformats.org/drawingml/2006/main">
              <a:ext uri="{FF2B5EF4-FFF2-40B4-BE49-F238E27FC236}">
                <a16:creationId xmlns:a16="http://schemas.microsoft.com/office/drawing/2014/main" id="{370BB333-BD79-4C33-94F6-21BAC93B0544}"/>
              </a:ext>
            </a:extLst>
          </p:cNvPr>
          <p:cNvSpPr>
            <a:spLocks xmlns:a="http://schemas.openxmlformats.org/drawingml/2006/main" noGrp="1"/>
          </p:cNvSpPr>
          <p:nvPr/>
        </p:nvSpPr>
        <p:spPr>
          <a:xfrm xmlns:a="http://schemas.openxmlformats.org/drawingml/2006/main">
            <a:off x="6143625" y="31051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2B3A"/>
                </a:solidFill>
                <a:latin typeface="Arial"/>
                <a:ea typeface="Arial"/>
                <a:cs typeface="Arial"/>
              </a:defRPr>
            </a:pPr>
            <a:r>
              <a:rPr sz="2100" b="1">
                <a:solidFill>
                  <a:srgbClr val="122B3A"/>
                </a:solidFill>
                <a:latin typeface="Arial"/>
                <a:ea typeface="Arial"/>
                <a:cs typeface="Arial"/>
              </a:rPr>
              <a:t>Preserve conditions and uncertainty</a:t>
            </a:r>
          </a:p>
        </p:txBody>
      </p:sp>
      <p:sp>
        <p:nvSpPr>
          <p:cNvPr id="7" name="text-62">
            <a:extLst xmlns:a="http://schemas.openxmlformats.org/drawingml/2006/main">
              <a:ext uri="{FF2B5EF4-FFF2-40B4-BE49-F238E27FC236}">
                <a16:creationId xmlns:a16="http://schemas.microsoft.com/office/drawing/2014/main" id="{D8929CE0-4106-4573-9E12-2224D2F9AB54}"/>
              </a:ext>
            </a:extLst>
          </p:cNvPr>
          <p:cNvSpPr>
            <a:spLocks xmlns:a="http://schemas.openxmlformats.org/drawingml/2006/main" noGrp="1"/>
          </p:cNvSpPr>
          <p:nvPr/>
        </p:nvSpPr>
        <p:spPr>
          <a:xfrm xmlns:a="http://schemas.openxmlformats.org/drawingml/2006/main">
            <a:off x="6143625" y="354330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1"/>
                </a:solidFill>
                <a:latin typeface="Arial"/>
                <a:ea typeface="Arial"/>
                <a:cs typeface="Arial"/>
              </a:defRPr>
            </a:pPr>
            <a:r>
              <a:rPr sz="1950" b="0">
                <a:solidFill>
                  <a:srgbClr val="526571"/>
                </a:solidFill>
                <a:latin typeface="Arial"/>
                <a:ea typeface="Arial"/>
                <a:cs typeface="Arial"/>
              </a:rPr>
              <a:t>Keep unresolved policy questions attached to the affected decisions.</a:t>
            </a:r>
          </a:p>
        </p:txBody>
      </p:sp>
      <p:sp>
        <p:nvSpPr>
          <p:cNvPr id="8" name="text-63">
            <a:extLst xmlns:a="http://schemas.openxmlformats.org/drawingml/2006/main">
              <a:ext uri="{FF2B5EF4-FFF2-40B4-BE49-F238E27FC236}">
                <a16:creationId xmlns:a16="http://schemas.microsoft.com/office/drawing/2014/main" id="{F6B7D579-D3E1-440D-AFA9-6EEE45B0C43C}"/>
              </a:ext>
            </a:extLst>
          </p:cNvPr>
          <p:cNvSpPr>
            <a:spLocks xmlns:a="http://schemas.openxmlformats.org/drawingml/2006/main" noGrp="1"/>
          </p:cNvSpPr>
          <p:nvPr/>
        </p:nvSpPr>
        <p:spPr>
          <a:xfrm xmlns:a="http://schemas.openxmlformats.org/drawingml/2006/main">
            <a:off x="6143625" y="45339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2B3A"/>
                </a:solidFill>
                <a:latin typeface="Arial"/>
                <a:ea typeface="Arial"/>
                <a:cs typeface="Arial"/>
              </a:defRPr>
            </a:pPr>
            <a:r>
              <a:rPr sz="2100" b="1">
                <a:solidFill>
                  <a:srgbClr val="122B3A"/>
                </a:solidFill>
                <a:latin typeface="Arial"/>
                <a:ea typeface="Arial"/>
                <a:cs typeface="Arial"/>
              </a:rPr>
              <a:t>Use recorded execution facts</a:t>
            </a:r>
          </a:p>
        </p:txBody>
      </p:sp>
      <p:sp>
        <p:nvSpPr>
          <p:cNvPr id="9" name="text-64">
            <a:extLst xmlns:a="http://schemas.openxmlformats.org/drawingml/2006/main">
              <a:ext uri="{FF2B5EF4-FFF2-40B4-BE49-F238E27FC236}">
                <a16:creationId xmlns:a16="http://schemas.microsoft.com/office/drawing/2014/main" id="{1EEDD640-8AA0-4112-BF06-54E8960DBC08}"/>
              </a:ext>
            </a:extLst>
          </p:cNvPr>
          <p:cNvSpPr>
            <a:spLocks xmlns:a="http://schemas.openxmlformats.org/drawingml/2006/main" noGrp="1"/>
          </p:cNvSpPr>
          <p:nvPr/>
        </p:nvSpPr>
        <p:spPr>
          <a:xfrm xmlns:a="http://schemas.openxmlformats.org/drawingml/2006/main">
            <a:off x="6143625" y="49720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1"/>
                </a:solidFill>
                <a:latin typeface="Arial"/>
                <a:ea typeface="Arial"/>
                <a:cs typeface="Arial"/>
              </a:defRPr>
            </a:pPr>
            <a:r>
              <a:rPr sz="1950" b="0">
                <a:solidFill>
                  <a:srgbClr val="526571"/>
                </a:solidFill>
                <a:latin typeface="Arial"/>
                <a:ea typeface="Arial"/>
                <a:cs typeface="Arial"/>
              </a:rPr>
              <a:t>Read the exact stopping reason and message index. Do not invent why a run stopped.</a:t>
            </a:r>
          </a:p>
        </p:txBody>
      </p:sp>
      <p:sp>
        <p:nvSpPr>
          <p:cNvPr id="10" name="text-65">
            <a:extLst xmlns:a="http://schemas.openxmlformats.org/drawingml/2006/main">
              <a:ext uri="{FF2B5EF4-FFF2-40B4-BE49-F238E27FC236}">
                <a16:creationId xmlns:a16="http://schemas.microsoft.com/office/drawing/2014/main" id="{91091416-B523-4366-B073-8E0EDA216DBE}"/>
              </a:ext>
            </a:extLst>
          </p:cNvPr>
          <p:cNvSpPr>
            <a:spLocks xmlns:a="http://schemas.openxmlformats.org/drawingml/2006/main" noGrp="1"/>
          </p:cNvSpPr>
          <p:nvPr/>
        </p:nvSpPr>
        <p:spPr>
          <a:xfrm xmlns:a="http://schemas.openxmlformats.org/drawingml/2006/main">
            <a:off x="638175" y="581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A54E39"/>
                </a:solidFill>
                <a:latin typeface="Arial"/>
                <a:ea typeface="Arial"/>
                <a:cs typeface="Arial"/>
              </a:defRPr>
            </a:pPr>
            <a:r>
              <a:rPr sz="1725" b="1">
                <a:solidFill>
                  <a:srgbClr val="A54E39"/>
                </a:solidFill>
                <a:latin typeface="Arial"/>
                <a:ea typeface="Arial"/>
                <a:cs typeface="Arial"/>
                <a:hlinkClick xmlns:r="http://schemas.openxmlformats.org/officeDocument/2006/relationships" r:id="R5b4446dbbe524135"/>
              </a:rPr>
              <a:t>summarizer.md</a:t>
            </a:r>
          </a:p>
        </p:txBody>
      </p:sp>
    </p:spTree>
    <p:extLst>
      <p:ext uri="{BB962C8B-B14F-4D97-AF65-F5344CB8AC3E}">
        <p14:creationId xmlns:p14="http://schemas.microsoft.com/office/powerpoint/2010/main" val="2062442647"/>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text-66">
            <a:extLst xmlns:a="http://schemas.openxmlformats.org/drawingml/2006/main">
              <a:ext uri="{FF2B5EF4-FFF2-40B4-BE49-F238E27FC236}">
                <a16:creationId xmlns:a16="http://schemas.microsoft.com/office/drawing/2014/main" id="{917FFFE8-D33F-44B5-BEB6-81BF671CB953}"/>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B3A"/>
                </a:solidFill>
                <a:latin typeface="Arial"/>
                <a:ea typeface="Arial"/>
                <a:cs typeface="Arial"/>
              </a:defRPr>
            </a:pPr>
            <a:r>
              <a:rPr sz="3450" b="1">
                <a:solidFill>
                  <a:srgbClr val="122B3A"/>
                </a:solidFill>
                <a:latin typeface="Arial"/>
                <a:ea typeface="Arial"/>
                <a:cs typeface="Arial"/>
              </a:rPr>
              <a:t>Intentional termination</a:t>
            </a:r>
          </a:p>
        </p:txBody>
      </p:sp>
      <p:sp>
        <p:nvSpPr>
          <p:cNvPr id="2" name="text-67">
            <a:extLst xmlns:a="http://schemas.openxmlformats.org/drawingml/2006/main">
              <a:ext uri="{FF2B5EF4-FFF2-40B4-BE49-F238E27FC236}">
                <a16:creationId xmlns:a16="http://schemas.microsoft.com/office/drawing/2014/main" id="{80EA5047-87F4-466F-91C4-3B2982094028}"/>
              </a:ext>
            </a:extLst>
          </p:cNvPr>
          <p:cNvSpPr>
            <a:spLocks xmlns:a="http://schemas.openxmlformats.org/drawingml/2006/main" noGrp="1"/>
          </p:cNvSpPr>
          <p:nvPr/>
        </p:nvSpPr>
        <p:spPr>
          <a:xfrm xmlns:a="http://schemas.openxmlformats.org/drawingml/2006/main">
            <a:off x="628650" y="12001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1"/>
                </a:solidFill>
                <a:latin typeface="Arial"/>
                <a:ea typeface="Arial"/>
                <a:cs typeface="Arial"/>
              </a:defRPr>
            </a:pPr>
            <a:r>
              <a:rPr sz="1875" b="0">
                <a:solidFill>
                  <a:srgbClr val="526571"/>
                </a:solidFill>
                <a:latin typeface="Arial"/>
                <a:ea typeface="Arial"/>
                <a:cs typeface="Arial"/>
              </a:rPr>
              <a:t>The Critic judges readiness. Python checks whether its signal can end the run.</a:t>
            </a:r>
          </a:p>
        </p:txBody>
      </p:sp>
      <p:sp>
        <p:nvSpPr>
          <p:cNvPr id="3" name="text-68">
            <a:extLst xmlns:a="http://schemas.openxmlformats.org/drawingml/2006/main">
              <a:ext uri="{FF2B5EF4-FFF2-40B4-BE49-F238E27FC236}">
                <a16:creationId xmlns:a16="http://schemas.microsoft.com/office/drawing/2014/main" id="{B5FF4061-888D-4875-9B15-EEF4F63A8C06}"/>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26571"/>
                </a:solidFill>
                <a:latin typeface="Arial"/>
                <a:ea typeface="Arial"/>
                <a:cs typeface="Arial"/>
              </a:defRPr>
            </a:pPr>
            <a:r>
              <a:rPr sz="1500" b="0">
                <a:solidFill>
                  <a:srgbClr val="526571"/>
                </a:solidFill>
                <a:latin typeface="Arial"/>
                <a:ea typeface="Arial"/>
                <a:cs typeface="Arial"/>
              </a:rPr>
              <a:t>08</a:t>
            </a:r>
          </a:p>
        </p:txBody>
      </p:sp>
      <p:graphicFrame>
        <p:nvGraphicFramePr>
          <p:cNvPr id="10" name=""/>
          <p:cNvGraphicFramePr/>
          <p:nvPr/>
        </p:nvGraphicFramePr>
        <p:xfrm>
          <a:off xmlns:a="http://schemas.openxmlformats.org/drawingml/2006/main" x="619125" y="2057400"/>
          <a:ext xmlns:a="http://schemas.openxmlformats.org/drawingml/2006/main" cx="10934700" cy="3143250"/>
        </p:xfrm>
        <a:graphic xmlns:a="http://schemas.openxmlformats.org/drawingml/2006/main">
          <a:graphicData uri="http://schemas.openxmlformats.org/drawingml/2006/table">
            <a:tbl>
              <a:tblPr/>
              <a:tblGrid>
                <a:gridCol w="2095500"/>
                <a:gridCol w="8839200"/>
              </a:tblGrid>
              <a:tr h="495300">
                <a:tc>
                  <a:txBody>
                    <a:bodyPr lIns="142875" tIns="95250" rIns="142875" bIns="95250">
                      <a:noAutofit/>
                    </a:bodyPr>
                    <a:lstStyle/>
                    <a:p>
                      <a:pPr algn="l"/>
                      <a:r>
                        <a:rPr sz="1875" b="1">
                          <a:solidFill>
                            <a:srgbClr val="FFFFFF"/>
                          </a:solidFill>
                          <a:latin typeface="Arial"/>
                          <a:ea typeface="Arial"/>
                          <a:cs typeface="Arial"/>
                        </a:rPr>
                        <a:t>Outcome</a:t>
                      </a:r>
                    </a:p>
                  </a:txBody>
                  <a:tcPr marL="91440" marR="91440" marT="45720" marB="45720" anchor="ctr">
                    <a:solidFill>
                      <a:srgbClr val="122B3A"/>
                    </a:solidFill>
                  </a:tcPr>
                </a:tc>
                <a:tc>
                  <a:txBody>
                    <a:bodyPr lIns="142875" tIns="95250" rIns="142875" bIns="95250">
                      <a:noAutofit/>
                    </a:bodyPr>
                    <a:lstStyle/>
                    <a:p>
                      <a:pPr algn="l"/>
                      <a:r>
                        <a:rPr sz="1875" b="1">
                          <a:solidFill>
                            <a:srgbClr val="FFFFFF"/>
                          </a:solidFill>
                          <a:latin typeface="Arial"/>
                          <a:ea typeface="Arial"/>
                          <a:cs typeface="Arial"/>
                        </a:rPr>
                        <a:t>Condition</a:t>
                      </a:r>
                    </a:p>
                  </a:txBody>
                  <a:tcPr marL="91440" marR="91440" marT="45720" marB="45720" anchor="ctr">
                    <a:solidFill>
                      <a:srgbClr val="122B3A"/>
                    </a:solidFill>
                  </a:tcPr>
                </a:tc>
              </a:tr>
              <a:tr h="666750">
                <a:tc>
                  <a:txBody>
                    <a:bodyPr lIns="142875" tIns="95250" rIns="142875" bIns="95250">
                      <a:noAutofit/>
                    </a:bodyPr>
                    <a:lstStyle/>
                    <a:p>
                      <a:pPr algn="l"/>
                      <a:r>
                        <a:rPr sz="1875" b="0">
                          <a:solidFill>
                            <a:srgbClr val="122B3A"/>
                          </a:solidFill>
                          <a:latin typeface="Arial"/>
                          <a:ea typeface="Arial"/>
                          <a:cs typeface="Arial"/>
                        </a:rPr>
                        <a:t>Completed</a:t>
                      </a:r>
                    </a:p>
                  </a:txBody>
                  <a:tcPr marL="91440" marR="91440" marT="45720" marB="45720" anchor="ctr">
                    <a:solidFill>
                      <a:srgbClr val="FFFFFF"/>
                    </a:solidFill>
                  </a:tcPr>
                </a:tc>
                <a:tc>
                  <a:txBody>
                    <a:bodyPr lIns="142875" tIns="95250" rIns="142875" bIns="95250">
                      <a:noAutofit/>
                    </a:bodyPr>
                    <a:lstStyle/>
                    <a:p>
                      <a:pPr algn="l"/>
                      <a:r>
                        <a:rPr sz="1875" b="0">
                          <a:solidFill>
                            <a:srgbClr val="122B3A"/>
                          </a:solidFill>
                          <a:latin typeface="Arial"/>
                          <a:ea typeface="Arial"/>
                          <a:cs typeface="Arial"/>
                        </a:rPr>
                        <a:t>At least 2 rounds, complete signal, no agreement blockers</a:t>
                      </a:r>
                    </a:p>
                  </a:txBody>
                  <a:tcPr marL="91440" marR="91440" marT="45720" marB="45720" anchor="ctr">
                    <a:solidFill>
                      <a:srgbClr val="FFFFFF"/>
                    </a:solidFill>
                  </a:tcPr>
                </a:tc>
              </a:tr>
              <a:tr h="666750">
                <a:tc>
                  <a:txBody>
                    <a:bodyPr lIns="142875" tIns="95250" rIns="142875" bIns="95250">
                      <a:noAutofit/>
                    </a:bodyPr>
                    <a:lstStyle/>
                    <a:p>
                      <a:pPr algn="l"/>
                      <a:r>
                        <a:rPr sz="1875" b="0">
                          <a:solidFill>
                            <a:srgbClr val="122B3A"/>
                          </a:solidFill>
                          <a:latin typeface="Arial"/>
                          <a:ea typeface="Arial"/>
                          <a:cs typeface="Arial"/>
                        </a:rPr>
                        <a:t>Stalled</a:t>
                      </a:r>
                    </a:p>
                  </a:txBody>
                  <a:tcPr marL="91440" marR="91440" marT="45720" marB="45720" anchor="ctr">
                    <a:solidFill>
                      <a:srgbClr val="EEF1EF"/>
                    </a:solidFill>
                  </a:tcPr>
                </a:tc>
                <a:tc>
                  <a:txBody>
                    <a:bodyPr lIns="142875" tIns="95250" rIns="142875" bIns="95250">
                      <a:noAutofit/>
                    </a:bodyPr>
                    <a:lstStyle/>
                    <a:p>
                      <a:pPr algn="l"/>
                      <a:r>
                        <a:rPr sz="1875" b="0">
                          <a:solidFill>
                            <a:srgbClr val="122B3A"/>
                          </a:solidFill>
                          <a:latin typeface="Arial"/>
                          <a:ea typeface="Arial"/>
                          <a:cs typeface="Arial"/>
                        </a:rPr>
                        <a:t>At least 2 rounds, stalled signal with a blocker and reason</a:t>
                      </a:r>
                    </a:p>
                  </a:txBody>
                  <a:tcPr marL="91440" marR="91440" marT="45720" marB="45720" anchor="ctr">
                    <a:solidFill>
                      <a:srgbClr val="EEF1EF"/>
                    </a:solidFill>
                  </a:tcPr>
                </a:tc>
              </a:tr>
              <a:tr h="647700">
                <a:tc>
                  <a:txBody>
                    <a:bodyPr lIns="142875" tIns="95250" rIns="142875" bIns="95250">
                      <a:noAutofit/>
                    </a:bodyPr>
                    <a:lstStyle/>
                    <a:p>
                      <a:pPr algn="l"/>
                      <a:r>
                        <a:rPr sz="1875" b="0">
                          <a:solidFill>
                            <a:srgbClr val="122B3A"/>
                          </a:solidFill>
                          <a:latin typeface="Arial"/>
                          <a:ea typeface="Arial"/>
                          <a:cs typeface="Arial"/>
                        </a:rPr>
                        <a:t>Capped</a:t>
                      </a:r>
                    </a:p>
                  </a:txBody>
                  <a:tcPr marL="91440" marR="91440" marT="45720" marB="45720" anchor="ctr">
                    <a:solidFill>
                      <a:srgbClr val="FFFFFF"/>
                    </a:solidFill>
                  </a:tcPr>
                </a:tc>
                <a:tc>
                  <a:txBody>
                    <a:bodyPr lIns="142875" tIns="95250" rIns="142875" bIns="95250">
                      <a:noAutofit/>
                    </a:bodyPr>
                    <a:lstStyle/>
                    <a:p>
                      <a:pPr algn="l"/>
                      <a:r>
                        <a:rPr sz="1875" b="0">
                          <a:solidFill>
                            <a:srgbClr val="122B3A"/>
                          </a:solidFill>
                          <a:latin typeface="Arial"/>
                          <a:ea typeface="Arial"/>
                          <a:cs typeface="Arial"/>
                        </a:rPr>
                        <a:t>The configured round ceiling arrives without either signal</a:t>
                      </a:r>
                    </a:p>
                  </a:txBody>
                  <a:tcPr marL="91440" marR="91440" marT="45720" marB="45720" anchor="ctr">
                    <a:solidFill>
                      <a:srgbClr val="FFFFFF"/>
                    </a:solidFill>
                  </a:tcPr>
                </a:tc>
              </a:tr>
              <a:tr h="666750">
                <a:tc>
                  <a:txBody>
                    <a:bodyPr lIns="142875" tIns="95250" rIns="142875" bIns="95250">
                      <a:noAutofit/>
                    </a:bodyPr>
                    <a:lstStyle/>
                    <a:p>
                      <a:pPr algn="l"/>
                      <a:r>
                        <a:rPr sz="1875" b="0">
                          <a:solidFill>
                            <a:srgbClr val="122B3A"/>
                          </a:solidFill>
                          <a:latin typeface="Arial"/>
                          <a:ea typeface="Arial"/>
                          <a:cs typeface="Arial"/>
                        </a:rPr>
                        <a:t>Error</a:t>
                      </a:r>
                    </a:p>
                  </a:txBody>
                  <a:tcPr marL="91440" marR="91440" marT="45720" marB="45720" anchor="ctr">
                    <a:solidFill>
                      <a:srgbClr val="EEF1EF"/>
                    </a:solidFill>
                  </a:tcPr>
                </a:tc>
                <a:tc>
                  <a:txBody>
                    <a:bodyPr lIns="142875" tIns="95250" rIns="142875" bIns="95250">
                      <a:noAutofit/>
                    </a:bodyPr>
                    <a:lstStyle/>
                    <a:p>
                      <a:pPr algn="l"/>
                      <a:r>
                        <a:rPr sz="1875" b="0">
                          <a:solidFill>
                            <a:srgbClr val="122B3A"/>
                          </a:solidFill>
                          <a:latin typeface="Arial"/>
                          <a:ea typeface="Arial"/>
                          <a:cs typeface="Arial"/>
                        </a:rPr>
                        <a:t>Execution or validation prevents further progress</a:t>
                      </a:r>
                    </a:p>
                  </a:txBody>
                  <a:tcPr marL="91440" marR="91440" marT="45720" marB="45720" anchor="ctr">
                    <a:solidFill>
                      <a:srgbClr val="EEF1EF"/>
                    </a:solidFill>
                  </a:tcPr>
                </a:tc>
              </a:tr>
            </a:tbl>
          </a:graphicData>
        </a:graphic>
      </p:graphicFrame>
      <p:sp>
        <p:nvSpPr>
          <p:cNvPr id="5" name="text-69">
            <a:extLst xmlns:a="http://schemas.openxmlformats.org/drawingml/2006/main">
              <a:ext uri="{FF2B5EF4-FFF2-40B4-BE49-F238E27FC236}">
                <a16:creationId xmlns:a16="http://schemas.microsoft.com/office/drawing/2014/main" id="{9FBDA4BB-2AD8-441C-8570-D8BB540B1D5A}"/>
              </a:ext>
            </a:extLst>
          </p:cNvPr>
          <p:cNvSpPr>
            <a:spLocks xmlns:a="http://schemas.openxmlformats.org/drawingml/2006/main" noGrp="1"/>
          </p:cNvSpPr>
          <p:nvPr/>
        </p:nvSpPr>
        <p:spPr>
          <a:xfrm xmlns:a="http://schemas.openxmlformats.org/drawingml/2006/main">
            <a:off x="628650" y="557212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22B3A"/>
                </a:solidFill>
                <a:latin typeface="Arial"/>
                <a:ea typeface="Arial"/>
                <a:cs typeface="Arial"/>
              </a:defRPr>
            </a:pPr>
            <a:r>
              <a:rPr sz="2175" b="1">
                <a:solidFill>
                  <a:srgbClr val="122B3A"/>
                </a:solidFill>
                <a:latin typeface="Arial"/>
                <a:ea typeface="Arial"/>
                <a:cs typeface="Arial"/>
              </a:rPr>
              <a:t>Why this policy</a:t>
            </a:r>
          </a:p>
        </p:txBody>
      </p:sp>
      <p:sp>
        <p:nvSpPr>
          <p:cNvPr id="6" name="text-70">
            <a:extLst xmlns:a="http://schemas.openxmlformats.org/drawingml/2006/main">
              <a:ext uri="{FF2B5EF4-FFF2-40B4-BE49-F238E27FC236}">
                <a16:creationId xmlns:a16="http://schemas.microsoft.com/office/drawing/2014/main" id="{46BD5A73-5B2E-45F3-B568-36FC837DD5D9}"/>
              </a:ext>
            </a:extLst>
          </p:cNvPr>
          <p:cNvSpPr>
            <a:spLocks xmlns:a="http://schemas.openxmlformats.org/drawingml/2006/main" noGrp="1"/>
          </p:cNvSpPr>
          <p:nvPr/>
        </p:nvSpPr>
        <p:spPr>
          <a:xfrm xmlns:a="http://schemas.openxmlformats.org/drawingml/2006/main">
            <a:off x="3524250" y="5553075"/>
            <a:ext cx="781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1"/>
                </a:solidFill>
                <a:latin typeface="Arial"/>
                <a:ea typeface="Arial"/>
                <a:cs typeface="Arial"/>
              </a:defRPr>
            </a:pPr>
            <a:r>
              <a:rPr sz="1875" b="0">
                <a:solidFill>
                  <a:srgbClr val="526571"/>
                </a:solidFill>
                <a:latin typeface="Arial"/>
                <a:ea typeface="Arial"/>
                <a:cs typeface="Arial"/>
              </a:rPr>
              <a:t>Fixed rounds cannot judge readiness. Confidence is uncalibrated.</a:t>
            </a:r>
          </a:p>
          <a:p xmlns:a="http://schemas.openxmlformats.org/drawingml/2006/main">
            <a:pPr algn="l">
              <a:defRPr sz="1875" b="0">
                <a:solidFill>
                  <a:srgbClr val="526571"/>
                </a:solidFill>
                <a:latin typeface="Arial"/>
                <a:ea typeface="Arial"/>
                <a:cs typeface="Arial"/>
              </a:defRPr>
            </a:pPr>
            <a:r>
              <a:rPr sz="1875" b="0">
                <a:solidFill>
                  <a:srgbClr val="526571"/>
                </a:solidFill>
                <a:latin typeface="Arial"/>
                <a:ea typeface="Arial"/>
                <a:cs typeface="Arial"/>
              </a:rPr>
              <a:t>Repeated wording can be a valid defense, so similarity is insufficient.</a:t>
            </a:r>
          </a:p>
        </p:txBody>
      </p:sp>
    </p:spTree>
    <p:extLst>
      <p:ext uri="{BB962C8B-B14F-4D97-AF65-F5344CB8AC3E}">
        <p14:creationId xmlns:p14="http://schemas.microsoft.com/office/powerpoint/2010/main" val="1689077965"/>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text-71">
            <a:extLst xmlns:a="http://schemas.openxmlformats.org/drawingml/2006/main">
              <a:ext uri="{FF2B5EF4-FFF2-40B4-BE49-F238E27FC236}">
                <a16:creationId xmlns:a16="http://schemas.microsoft.com/office/drawing/2014/main" id="{8287D144-68B9-4D84-B039-30F0C1DB9C9A}"/>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B3A"/>
                </a:solidFill>
                <a:latin typeface="Arial"/>
                <a:ea typeface="Arial"/>
                <a:cs typeface="Arial"/>
              </a:defRPr>
            </a:pPr>
            <a:r>
              <a:rPr sz="3450" b="1">
                <a:solidFill>
                  <a:srgbClr val="122B3A"/>
                </a:solidFill>
                <a:latin typeface="Arial"/>
                <a:ea typeface="Arial"/>
                <a:cs typeface="Arial"/>
              </a:rPr>
              <a:t>What the five-round run shows</a:t>
            </a:r>
          </a:p>
        </p:txBody>
      </p:sp>
      <p:sp>
        <p:nvSpPr>
          <p:cNvPr id="2" name="text-72">
            <a:extLst xmlns:a="http://schemas.openxmlformats.org/drawingml/2006/main">
              <a:ext uri="{FF2B5EF4-FFF2-40B4-BE49-F238E27FC236}">
                <a16:creationId xmlns:a16="http://schemas.microsoft.com/office/drawing/2014/main" id="{F295DACF-5036-4F5F-852F-0AC7BF258B39}"/>
              </a:ext>
            </a:extLst>
          </p:cNvPr>
          <p:cNvSpPr>
            <a:spLocks xmlns:a="http://schemas.openxmlformats.org/drawingml/2006/main" noGrp="1"/>
          </p:cNvSpPr>
          <p:nvPr/>
        </p:nvSpPr>
        <p:spPr>
          <a:xfrm xmlns:a="http://schemas.openxmlformats.org/drawingml/2006/main">
            <a:off x="628650" y="12001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1"/>
                </a:solidFill>
                <a:latin typeface="Arial"/>
                <a:ea typeface="Arial"/>
                <a:cs typeface="Arial"/>
              </a:defRPr>
            </a:pPr>
            <a:r>
              <a:rPr sz="1875" b="0">
                <a:solidFill>
                  <a:srgbClr val="526571"/>
                </a:solidFill>
                <a:latin typeface="Arial"/>
                <a:ea typeface="Arial"/>
                <a:cs typeface="Arial"/>
              </a:rPr>
              <a:t>Engagement history request. Saved run: 20261005T032659Z-164354ee</a:t>
            </a:r>
          </a:p>
        </p:txBody>
      </p:sp>
      <p:sp>
        <p:nvSpPr>
          <p:cNvPr id="3" name="text-73">
            <a:extLst xmlns:a="http://schemas.openxmlformats.org/drawingml/2006/main">
              <a:ext uri="{FF2B5EF4-FFF2-40B4-BE49-F238E27FC236}">
                <a16:creationId xmlns:a16="http://schemas.microsoft.com/office/drawing/2014/main" id="{3C51DE0E-05EB-459E-AA96-858470D02F41}"/>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26571"/>
                </a:solidFill>
                <a:latin typeface="Arial"/>
                <a:ea typeface="Arial"/>
                <a:cs typeface="Arial"/>
              </a:defRPr>
            </a:pPr>
            <a:r>
              <a:rPr sz="1500" b="0">
                <a:solidFill>
                  <a:srgbClr val="526571"/>
                </a:solidFill>
                <a:latin typeface="Arial"/>
                <a:ea typeface="Arial"/>
                <a:cs typeface="Arial"/>
              </a:rPr>
              <a:t>09</a:t>
            </a:r>
          </a:p>
        </p:txBody>
      </p:sp>
      <p:sp>
        <p:nvSpPr>
          <p:cNvPr id="4" name="text-74">
            <a:extLst xmlns:a="http://schemas.openxmlformats.org/drawingml/2006/main">
              <a:ext uri="{FF2B5EF4-FFF2-40B4-BE49-F238E27FC236}">
                <a16:creationId xmlns:a16="http://schemas.microsoft.com/office/drawing/2014/main" id="{EE7BC47A-3B94-4BB0-AAED-10489A24406C}"/>
              </a:ext>
            </a:extLst>
          </p:cNvPr>
          <p:cNvSpPr>
            <a:spLocks xmlns:a="http://schemas.openxmlformats.org/drawingml/2006/main" noGrp="1"/>
          </p:cNvSpPr>
          <p:nvPr/>
        </p:nvSpPr>
        <p:spPr>
          <a:xfrm xmlns:a="http://schemas.openxmlformats.org/drawingml/2006/main">
            <a:off x="619125" y="1809750"/>
            <a:ext cx="276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122B3A"/>
                </a:solidFill>
                <a:latin typeface="Arial"/>
                <a:ea typeface="Arial"/>
                <a:cs typeface="Arial"/>
              </a:defRPr>
            </a:pPr>
            <a:r>
              <a:rPr sz="4950" b="1">
                <a:solidFill>
                  <a:srgbClr val="122B3A"/>
                </a:solidFill>
                <a:latin typeface="Arial"/>
                <a:ea typeface="Arial"/>
                <a:cs typeface="Arial"/>
              </a:rPr>
              <a:t>5</a:t>
            </a:r>
          </a:p>
        </p:txBody>
      </p:sp>
      <p:sp>
        <p:nvSpPr>
          <p:cNvPr id="5" name="text-75">
            <a:extLst xmlns:a="http://schemas.openxmlformats.org/drawingml/2006/main">
              <a:ext uri="{FF2B5EF4-FFF2-40B4-BE49-F238E27FC236}">
                <a16:creationId xmlns:a16="http://schemas.microsoft.com/office/drawing/2014/main" id="{99B50937-626D-4CFA-A283-102801B23CDB}"/>
              </a:ext>
            </a:extLst>
          </p:cNvPr>
          <p:cNvSpPr>
            <a:spLocks xmlns:a="http://schemas.openxmlformats.org/drawingml/2006/main" noGrp="1"/>
          </p:cNvSpPr>
          <p:nvPr/>
        </p:nvSpPr>
        <p:spPr>
          <a:xfrm xmlns:a="http://schemas.openxmlformats.org/drawingml/2006/main">
            <a:off x="619125" y="25431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1"/>
                </a:solidFill>
                <a:latin typeface="Arial"/>
                <a:ea typeface="Arial"/>
                <a:cs typeface="Arial"/>
              </a:defRPr>
            </a:pPr>
            <a:r>
              <a:rPr sz="1800" b="0">
                <a:solidFill>
                  <a:srgbClr val="526571"/>
                </a:solidFill>
                <a:latin typeface="Arial"/>
                <a:ea typeface="Arial"/>
                <a:cs typeface="Arial"/>
              </a:rPr>
              <a:t>completed rounds</a:t>
            </a:r>
          </a:p>
        </p:txBody>
      </p:sp>
      <p:sp>
        <p:nvSpPr>
          <p:cNvPr id="6" name="text-76">
            <a:extLst xmlns:a="http://schemas.openxmlformats.org/drawingml/2006/main">
              <a:ext uri="{FF2B5EF4-FFF2-40B4-BE49-F238E27FC236}">
                <a16:creationId xmlns:a16="http://schemas.microsoft.com/office/drawing/2014/main" id="{5DCCB59B-02D9-4893-B98C-83BAE5D98845}"/>
              </a:ext>
            </a:extLst>
          </p:cNvPr>
          <p:cNvSpPr>
            <a:spLocks xmlns:a="http://schemas.openxmlformats.org/drawingml/2006/main" noGrp="1"/>
          </p:cNvSpPr>
          <p:nvPr/>
        </p:nvSpPr>
        <p:spPr>
          <a:xfrm xmlns:a="http://schemas.openxmlformats.org/drawingml/2006/main">
            <a:off x="4324350" y="1809750"/>
            <a:ext cx="276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122B3A"/>
                </a:solidFill>
                <a:latin typeface="Arial"/>
                <a:ea typeface="Arial"/>
                <a:cs typeface="Arial"/>
              </a:defRPr>
            </a:pPr>
            <a:r>
              <a:rPr sz="4950" b="1">
                <a:solidFill>
                  <a:srgbClr val="122B3A"/>
                </a:solidFill>
                <a:latin typeface="Arial"/>
                <a:ea typeface="Arial"/>
                <a:cs typeface="Arial"/>
              </a:rPr>
              <a:t>15</a:t>
            </a:r>
          </a:p>
        </p:txBody>
      </p:sp>
      <p:sp>
        <p:nvSpPr>
          <p:cNvPr id="7" name="text-77">
            <a:extLst xmlns:a="http://schemas.openxmlformats.org/drawingml/2006/main">
              <a:ext uri="{FF2B5EF4-FFF2-40B4-BE49-F238E27FC236}">
                <a16:creationId xmlns:a16="http://schemas.microsoft.com/office/drawing/2014/main" id="{282DE15B-BBAB-4DEA-B746-EB952AA95C92}"/>
              </a:ext>
            </a:extLst>
          </p:cNvPr>
          <p:cNvSpPr>
            <a:spLocks xmlns:a="http://schemas.openxmlformats.org/drawingml/2006/main" noGrp="1"/>
          </p:cNvSpPr>
          <p:nvPr/>
        </p:nvSpPr>
        <p:spPr>
          <a:xfrm xmlns:a="http://schemas.openxmlformats.org/drawingml/2006/main">
            <a:off x="4324350" y="25431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1"/>
                </a:solidFill>
                <a:latin typeface="Arial"/>
                <a:ea typeface="Arial"/>
                <a:cs typeface="Arial"/>
              </a:defRPr>
            </a:pPr>
            <a:r>
              <a:rPr sz="1800" b="0">
                <a:solidFill>
                  <a:srgbClr val="526571"/>
                </a:solidFill>
                <a:latin typeface="Arial"/>
                <a:ea typeface="Arial"/>
                <a:cs typeface="Arial"/>
              </a:rPr>
              <a:t>model calls</a:t>
            </a:r>
          </a:p>
        </p:txBody>
      </p:sp>
      <p:sp>
        <p:nvSpPr>
          <p:cNvPr id="8" name="text-78">
            <a:extLst xmlns:a="http://schemas.openxmlformats.org/drawingml/2006/main">
              <a:ext uri="{FF2B5EF4-FFF2-40B4-BE49-F238E27FC236}">
                <a16:creationId xmlns:a16="http://schemas.microsoft.com/office/drawing/2014/main" id="{8554B942-726D-467C-8196-FDC992B5A164}"/>
              </a:ext>
            </a:extLst>
          </p:cNvPr>
          <p:cNvSpPr>
            <a:spLocks xmlns:a="http://schemas.openxmlformats.org/drawingml/2006/main" noGrp="1"/>
          </p:cNvSpPr>
          <p:nvPr/>
        </p:nvSpPr>
        <p:spPr>
          <a:xfrm xmlns:a="http://schemas.openxmlformats.org/drawingml/2006/main">
            <a:off x="8039100" y="1809750"/>
            <a:ext cx="276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122B3A"/>
                </a:solidFill>
                <a:latin typeface="Arial"/>
                <a:ea typeface="Arial"/>
                <a:cs typeface="Arial"/>
              </a:defRPr>
            </a:pPr>
            <a:r>
              <a:rPr sz="4950" b="1">
                <a:solidFill>
                  <a:srgbClr val="122B3A"/>
                </a:solidFill>
                <a:latin typeface="Arial"/>
                <a:ea typeface="Arial"/>
                <a:cs typeface="Arial"/>
              </a:rPr>
              <a:t>8</a:t>
            </a:r>
          </a:p>
        </p:txBody>
      </p:sp>
      <p:sp>
        <p:nvSpPr>
          <p:cNvPr id="9" name="text-79">
            <a:extLst xmlns:a="http://schemas.openxmlformats.org/drawingml/2006/main">
              <a:ext uri="{FF2B5EF4-FFF2-40B4-BE49-F238E27FC236}">
                <a16:creationId xmlns:a16="http://schemas.microsoft.com/office/drawing/2014/main" id="{9F6DE601-A986-42AF-AC36-31D2392E47D9}"/>
              </a:ext>
            </a:extLst>
          </p:cNvPr>
          <p:cNvSpPr>
            <a:spLocks xmlns:a="http://schemas.openxmlformats.org/drawingml/2006/main" noGrp="1"/>
          </p:cNvSpPr>
          <p:nvPr/>
        </p:nvSpPr>
        <p:spPr>
          <a:xfrm xmlns:a="http://schemas.openxmlformats.org/drawingml/2006/main">
            <a:off x="8039100" y="25431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1"/>
                </a:solidFill>
                <a:latin typeface="Arial"/>
                <a:ea typeface="Arial"/>
                <a:cs typeface="Arial"/>
              </a:defRPr>
            </a:pPr>
            <a:r>
              <a:rPr sz="1800" b="0">
                <a:solidFill>
                  <a:srgbClr val="526571"/>
                </a:solidFill>
                <a:latin typeface="Arial"/>
                <a:ea typeface="Arial"/>
                <a:cs typeface="Arial"/>
              </a:rPr>
              <a:t>round ceiling</a:t>
            </a:r>
          </a:p>
        </p:txBody>
      </p:sp>
      <p:graphicFrame>
        <p:nvGraphicFramePr>
          <p:cNvPr id="21" name=""/>
          <p:cNvGraphicFramePr/>
          <p:nvPr/>
        </p:nvGraphicFramePr>
        <p:xfrm>
          <a:off xmlns:a="http://schemas.openxmlformats.org/drawingml/2006/main" x="619125" y="3143250"/>
          <a:ext xmlns:a="http://schemas.openxmlformats.org/drawingml/2006/main" cx="10934700" cy="2781300"/>
        </p:xfrm>
        <a:graphic xmlns:a="http://schemas.openxmlformats.org/drawingml/2006/main">
          <a:graphicData uri="http://schemas.openxmlformats.org/drawingml/2006/table">
            <a:tbl>
              <a:tblPr/>
              <a:tblGrid>
                <a:gridCol w="1104900"/>
                <a:gridCol w="4162425"/>
                <a:gridCol w="5667375"/>
              </a:tblGrid>
              <a:tr h="495300">
                <a:tc>
                  <a:txBody>
                    <a:bodyPr lIns="142875" tIns="95250" rIns="142875" bIns="95250">
                      <a:noAutofit/>
                    </a:bodyPr>
                    <a:lstStyle/>
                    <a:p>
                      <a:pPr algn="l"/>
                      <a:r>
                        <a:rPr sz="1725" b="1">
                          <a:solidFill>
                            <a:srgbClr val="FFFFFF"/>
                          </a:solidFill>
                          <a:latin typeface="Arial"/>
                          <a:ea typeface="Arial"/>
                          <a:cs typeface="Arial"/>
                        </a:rPr>
                        <a:t>Round</a:t>
                      </a:r>
                    </a:p>
                  </a:txBody>
                  <a:tcPr marL="91440" marR="91440" marT="45720" marB="45720" anchor="ctr">
                    <a:solidFill>
                      <a:srgbClr val="122B3A"/>
                    </a:solidFill>
                  </a:tcPr>
                </a:tc>
                <a:tc>
                  <a:txBody>
                    <a:bodyPr lIns="142875" tIns="95250" rIns="142875" bIns="95250">
                      <a:noAutofit/>
                    </a:bodyPr>
                    <a:lstStyle/>
                    <a:p>
                      <a:pPr algn="l"/>
                      <a:r>
                        <a:rPr sz="1725" b="1">
                          <a:solidFill>
                            <a:srgbClr val="FFFFFF"/>
                          </a:solidFill>
                          <a:latin typeface="Arial"/>
                          <a:ea typeface="Arial"/>
                          <a:cs typeface="Arial"/>
                        </a:rPr>
                        <a:t>Access-control concern C4</a:t>
                      </a:r>
                    </a:p>
                  </a:txBody>
                  <a:tcPr marL="91440" marR="91440" marT="45720" marB="45720" anchor="ctr">
                    <a:solidFill>
                      <a:srgbClr val="122B3A"/>
                    </a:solidFill>
                  </a:tcPr>
                </a:tc>
                <a:tc>
                  <a:txBody>
                    <a:bodyPr lIns="142875" tIns="95250" rIns="142875" bIns="95250">
                      <a:noAutofit/>
                    </a:bodyPr>
                    <a:lstStyle/>
                    <a:p>
                      <a:pPr algn="l"/>
                      <a:r>
                        <a:rPr sz="1725" b="1">
                          <a:solidFill>
                            <a:srgbClr val="FFFFFF"/>
                          </a:solidFill>
                          <a:latin typeface="Arial"/>
                          <a:ea typeface="Arial"/>
                          <a:cs typeface="Arial"/>
                        </a:rPr>
                        <a:t>Authorization and workflow C1 / C2</a:t>
                      </a:r>
                    </a:p>
                  </a:txBody>
                  <a:tcPr marL="91440" marR="91440" marT="45720" marB="45720" anchor="ctr">
                    <a:solidFill>
                      <a:srgbClr val="122B3A"/>
                    </a:solidFill>
                  </a:tcPr>
                </a:tc>
              </a:tr>
              <a:tr h="571500">
                <a:tc>
                  <a:txBody>
                    <a:bodyPr lIns="142875" tIns="95250" rIns="142875" bIns="95250">
                      <a:noAutofit/>
                    </a:bodyPr>
                    <a:lstStyle/>
                    <a:p>
                      <a:pPr algn="l"/>
                      <a:r>
                        <a:rPr sz="1725" b="0">
                          <a:solidFill>
                            <a:srgbClr val="122B3A"/>
                          </a:solidFill>
                          <a:latin typeface="Arial"/>
                          <a:ea typeface="Arial"/>
                          <a:cs typeface="Arial"/>
                        </a:rPr>
                        <a:t>1</a:t>
                      </a:r>
                    </a:p>
                  </a:txBody>
                  <a:tcPr marL="91440" marR="91440" marT="45720" marB="45720" anchor="ctr">
                    <a:solidFill>
                      <a:srgbClr val="FFFFFF"/>
                    </a:solidFill>
                  </a:tcPr>
                </a:tc>
                <a:tc>
                  <a:txBody>
                    <a:bodyPr lIns="142875" tIns="95250" rIns="142875" bIns="95250">
                      <a:noAutofit/>
                    </a:bodyPr>
                    <a:lstStyle/>
                    <a:p>
                      <a:pPr algn="l"/>
                      <a:r>
                        <a:rPr sz="1725" b="0">
                          <a:solidFill>
                            <a:srgbClr val="122B3A"/>
                          </a:solidFill>
                          <a:latin typeface="Arial"/>
                          <a:ea typeface="Arial"/>
                          <a:cs typeface="Arial"/>
                        </a:rPr>
                        <a:t>Critic asks how filtering works</a:t>
                      </a:r>
                    </a:p>
                  </a:txBody>
                  <a:tcPr marL="91440" marR="91440" marT="45720" marB="45720" anchor="ctr">
                    <a:solidFill>
                      <a:srgbClr val="FFFFFF"/>
                    </a:solidFill>
                  </a:tcPr>
                </a:tc>
                <a:tc>
                  <a:txBody>
                    <a:bodyPr lIns="142875" tIns="95250" rIns="142875" bIns="95250">
                      <a:noAutofit/>
                    </a:bodyPr>
                    <a:lstStyle/>
                    <a:p>
                      <a:pPr algn="l"/>
                      <a:r>
                        <a:rPr sz="1725" b="0">
                          <a:solidFill>
                            <a:srgbClr val="122B3A"/>
                          </a:solidFill>
                          <a:latin typeface="Arial"/>
                          <a:ea typeface="Arial"/>
                          <a:cs typeface="Arial"/>
                        </a:rPr>
                        <a:t>Critic marks both as agreement blockers</a:t>
                      </a:r>
                    </a:p>
                  </a:txBody>
                  <a:tcPr marL="91440" marR="91440" marT="45720" marB="45720" anchor="ctr">
                    <a:solidFill>
                      <a:srgbClr val="FFFFFF"/>
                    </a:solidFill>
                  </a:tcPr>
                </a:tc>
              </a:tr>
              <a:tr h="571500">
                <a:tc>
                  <a:txBody>
                    <a:bodyPr lIns="142875" tIns="95250" rIns="142875" bIns="95250">
                      <a:noAutofit/>
                    </a:bodyPr>
                    <a:lstStyle/>
                    <a:p>
                      <a:pPr algn="l"/>
                      <a:r>
                        <a:rPr sz="1725" b="0">
                          <a:solidFill>
                            <a:srgbClr val="122B3A"/>
                          </a:solidFill>
                          <a:latin typeface="Arial"/>
                          <a:ea typeface="Arial"/>
                          <a:cs typeface="Arial"/>
                        </a:rPr>
                        <a:t>2</a:t>
                      </a:r>
                    </a:p>
                  </a:txBody>
                  <a:tcPr marL="91440" marR="91440" marT="45720" marB="45720" anchor="ctr">
                    <a:solidFill>
                      <a:srgbClr val="EEF1EF"/>
                    </a:solidFill>
                  </a:tcPr>
                </a:tc>
                <a:tc>
                  <a:txBody>
                    <a:bodyPr lIns="142875" tIns="95250" rIns="142875" bIns="95250">
                      <a:noAutofit/>
                    </a:bodyPr>
                    <a:lstStyle/>
                    <a:p>
                      <a:pPr algn="l"/>
                      <a:r>
                        <a:rPr sz="1725" b="0">
                          <a:solidFill>
                            <a:srgbClr val="122B3A"/>
                          </a:solidFill>
                          <a:latin typeface="Arial"/>
                          <a:ea typeface="Arial"/>
                          <a:cs typeface="Arial"/>
                        </a:rPr>
                        <a:t>Critic accepts the proposed filtering</a:t>
                      </a:r>
                    </a:p>
                  </a:txBody>
                  <a:tcPr marL="91440" marR="91440" marT="45720" marB="45720" anchor="ctr">
                    <a:solidFill>
                      <a:srgbClr val="EEF1EF"/>
                    </a:solidFill>
                  </a:tcPr>
                </a:tc>
                <a:tc>
                  <a:txBody>
                    <a:bodyPr lIns="142875" tIns="95250" rIns="142875" bIns="95250">
                      <a:noAutofit/>
                    </a:bodyPr>
                    <a:lstStyle/>
                    <a:p>
                      <a:pPr algn="l"/>
                      <a:r>
                        <a:rPr sz="1725" b="0">
                          <a:solidFill>
                            <a:srgbClr val="122B3A"/>
                          </a:solidFill>
                          <a:latin typeface="Arial"/>
                          <a:ea typeface="Arial"/>
                          <a:cs typeface="Arial"/>
                        </a:rPr>
                        <a:t>Proposer defends the policy prerequisite</a:t>
                      </a:r>
                    </a:p>
                  </a:txBody>
                  <a:tcPr marL="91440" marR="91440" marT="45720" marB="45720" anchor="ctr">
                    <a:solidFill>
                      <a:srgbClr val="EEF1EF"/>
                    </a:solidFill>
                  </a:tcPr>
                </a:tc>
              </a:tr>
              <a:tr h="571500">
                <a:tc>
                  <a:txBody>
                    <a:bodyPr lIns="142875" tIns="95250" rIns="142875" bIns="95250">
                      <a:noAutofit/>
                    </a:bodyPr>
                    <a:lstStyle/>
                    <a:p>
                      <a:pPr algn="l"/>
                      <a:r>
                        <a:rPr sz="1725" b="0">
                          <a:solidFill>
                            <a:srgbClr val="122B3A"/>
                          </a:solidFill>
                          <a:latin typeface="Arial"/>
                          <a:ea typeface="Arial"/>
                          <a:cs typeface="Arial"/>
                        </a:rPr>
                        <a:t>3–4</a:t>
                      </a:r>
                    </a:p>
                  </a:txBody>
                  <a:tcPr marL="91440" marR="91440" marT="45720" marB="45720" anchor="ctr">
                    <a:solidFill>
                      <a:srgbClr val="FFFFFF"/>
                    </a:solidFill>
                  </a:tcPr>
                </a:tc>
                <a:tc>
                  <a:txBody>
                    <a:bodyPr lIns="142875" tIns="95250" rIns="142875" bIns="95250">
                      <a:noAutofit/>
                    </a:bodyPr>
                    <a:lstStyle/>
                    <a:p>
                      <a:pPr algn="l"/>
                      <a:r>
                        <a:rPr sz="1725" b="0">
                          <a:solidFill>
                            <a:srgbClr val="122B3A"/>
                          </a:solidFill>
                          <a:latin typeface="Arial"/>
                          <a:ea typeface="Arial"/>
                          <a:cs typeface="Arial"/>
                        </a:rPr>
                        <a:t>Resolved concern stays resolved</a:t>
                      </a:r>
                    </a:p>
                  </a:txBody>
                  <a:tcPr marL="91440" marR="91440" marT="45720" marB="45720" anchor="ctr">
                    <a:solidFill>
                      <a:srgbClr val="FFFFFF"/>
                    </a:solidFill>
                  </a:tcPr>
                </a:tc>
                <a:tc>
                  <a:txBody>
                    <a:bodyPr lIns="142875" tIns="95250" rIns="142875" bIns="95250">
                      <a:noAutofit/>
                    </a:bodyPr>
                    <a:lstStyle/>
                    <a:p>
                      <a:pPr algn="l"/>
                      <a:r>
                        <a:rPr sz="1725" b="0">
                          <a:solidFill>
                            <a:srgbClr val="122B3A"/>
                          </a:solidFill>
                          <a:latin typeface="Arial"/>
                          <a:ea typeface="Arial"/>
                          <a:cs typeface="Arial"/>
                        </a:rPr>
                        <a:t>Requests for external decisions continue</a:t>
                      </a:r>
                    </a:p>
                  </a:txBody>
                  <a:tcPr marL="91440" marR="91440" marT="45720" marB="45720" anchor="ctr">
                    <a:solidFill>
                      <a:srgbClr val="FFFFFF"/>
                    </a:solidFill>
                  </a:tcPr>
                </a:tc>
              </a:tr>
              <a:tr h="571500">
                <a:tc>
                  <a:txBody>
                    <a:bodyPr lIns="142875" tIns="95250" rIns="142875" bIns="95250">
                      <a:noAutofit/>
                    </a:bodyPr>
                    <a:lstStyle/>
                    <a:p>
                      <a:pPr algn="l"/>
                      <a:r>
                        <a:rPr sz="1725" b="0">
                          <a:solidFill>
                            <a:srgbClr val="122B3A"/>
                          </a:solidFill>
                          <a:latin typeface="Arial"/>
                          <a:ea typeface="Arial"/>
                          <a:cs typeface="Arial"/>
                        </a:rPr>
                        <a:t>5</a:t>
                      </a:r>
                    </a:p>
                  </a:txBody>
                  <a:tcPr marL="91440" marR="91440" marT="45720" marB="45720" anchor="ctr">
                    <a:solidFill>
                      <a:srgbClr val="EEF1EF"/>
                    </a:solidFill>
                  </a:tcPr>
                </a:tc>
                <a:tc>
                  <a:txBody>
                    <a:bodyPr lIns="142875" tIns="95250" rIns="142875" bIns="95250">
                      <a:noAutofit/>
                    </a:bodyPr>
                    <a:lstStyle/>
                    <a:p>
                      <a:pPr algn="l"/>
                      <a:r>
                        <a:rPr sz="1725" b="0">
                          <a:solidFill>
                            <a:srgbClr val="122B3A"/>
                          </a:solidFill>
                          <a:latin typeface="Arial"/>
                          <a:ea typeface="Arial"/>
                          <a:cs typeface="Arial"/>
                        </a:rPr>
                        <a:t>Accepted enforcement approach</a:t>
                      </a:r>
                    </a:p>
                  </a:txBody>
                  <a:tcPr marL="91440" marR="91440" marT="45720" marB="45720" anchor="ctr">
                    <a:solidFill>
                      <a:srgbClr val="EEF1EF"/>
                    </a:solidFill>
                  </a:tcPr>
                </a:tc>
                <a:tc>
                  <a:txBody>
                    <a:bodyPr lIns="142875" tIns="95250" rIns="142875" bIns="95250">
                      <a:noAutofit/>
                    </a:bodyPr>
                    <a:lstStyle/>
                    <a:p>
                      <a:pPr algn="l"/>
                      <a:r>
                        <a:rPr sz="1725" b="0">
                          <a:solidFill>
                            <a:srgbClr val="122B3A"/>
                          </a:solidFill>
                          <a:latin typeface="Arial"/>
                          <a:ea typeface="Arial"/>
                          <a:cs typeface="Arial"/>
                        </a:rPr>
                        <a:t>Critic accepts conditions and signals complete</a:t>
                      </a:r>
                    </a:p>
                  </a:txBody>
                  <a:tcPr marL="91440" marR="91440" marT="45720" marB="45720" anchor="ctr">
                    <a:solidFill>
                      <a:srgbClr val="EEF1EF"/>
                    </a:solidFill>
                  </a:tcPr>
                </a:tc>
              </a:tr>
            </a:tbl>
          </a:graphicData>
        </a:graphic>
      </p:graphicFrame>
      <p:sp>
        <p:nvSpPr>
          <p:cNvPr id="11" name="text-80">
            <a:extLst xmlns:a="http://schemas.openxmlformats.org/drawingml/2006/main">
              <a:ext uri="{FF2B5EF4-FFF2-40B4-BE49-F238E27FC236}">
                <a16:creationId xmlns:a16="http://schemas.microsoft.com/office/drawing/2014/main" id="{322A4005-4F90-4628-BF7A-5585D8C5B73B}"/>
              </a:ext>
            </a:extLst>
          </p:cNvPr>
          <p:cNvSpPr>
            <a:spLocks xmlns:a="http://schemas.openxmlformats.org/drawingml/2006/main" noGrp="1"/>
          </p:cNvSpPr>
          <p:nvPr/>
        </p:nvSpPr>
        <p:spPr>
          <a:xfrm xmlns:a="http://schemas.openxmlformats.org/drawingml/2006/main">
            <a:off x="638175" y="61912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71"/>
                </a:solidFill>
                <a:latin typeface="Arial"/>
                <a:ea typeface="Arial"/>
                <a:cs typeface="Arial"/>
              </a:defRPr>
            </a:pPr>
            <a:r>
              <a:rPr sz="1650" b="0">
                <a:solidFill>
                  <a:srgbClr val="526571"/>
                </a:solidFill>
                <a:latin typeface="Arial"/>
                <a:ea typeface="Arial"/>
                <a:cs typeface="Arial"/>
              </a:rPr>
              <a:t>Completion before the ceiling is demonstrated. Optimal stopping time remains unproven.</a:t>
            </a:r>
          </a:p>
        </p:txBody>
      </p:sp>
    </p:spTree>
    <p:extLst>
      <p:ext uri="{BB962C8B-B14F-4D97-AF65-F5344CB8AC3E}">
        <p14:creationId xmlns:p14="http://schemas.microsoft.com/office/powerpoint/2010/main" val="1987853263"/>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4" name="text-81">
            <a:extLst xmlns:a="http://schemas.openxmlformats.org/drawingml/2006/main">
              <a:ext uri="{FF2B5EF4-FFF2-40B4-BE49-F238E27FC236}">
                <a16:creationId xmlns:a16="http://schemas.microsoft.com/office/drawing/2014/main" id="{5EB638F6-9FEB-4805-97D7-C12DBA486404}"/>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B3A"/>
                </a:solidFill>
                <a:latin typeface="Arial"/>
                <a:ea typeface="Arial"/>
                <a:cs typeface="Arial"/>
              </a:defRPr>
            </a:pPr>
            <a:r>
              <a:rPr sz="3450" b="1">
                <a:solidFill>
                  <a:srgbClr val="122B3A"/>
                </a:solidFill>
                <a:latin typeface="Arial"/>
                <a:ea typeface="Arial"/>
                <a:cs typeface="Arial"/>
              </a:rPr>
              <a:t>The decision document preserves the reasoning</a:t>
            </a:r>
          </a:p>
        </p:txBody>
      </p:sp>
      <p:sp>
        <p:nvSpPr>
          <p:cNvPr id="2" name="text-82">
            <a:extLst xmlns:a="http://schemas.openxmlformats.org/drawingml/2006/main">
              <a:ext uri="{FF2B5EF4-FFF2-40B4-BE49-F238E27FC236}">
                <a16:creationId xmlns:a16="http://schemas.microsoft.com/office/drawing/2014/main" id="{17C9F2C8-E8A9-424E-B65D-7E16FE53EF49}"/>
              </a:ext>
            </a:extLst>
          </p:cNvPr>
          <p:cNvSpPr>
            <a:spLocks xmlns:a="http://schemas.openxmlformats.org/drawingml/2006/main" noGrp="1"/>
          </p:cNvSpPr>
          <p:nvPr/>
        </p:nvSpPr>
        <p:spPr>
          <a:xfrm xmlns:a="http://schemas.openxmlformats.org/drawingml/2006/main">
            <a:off x="628650" y="12001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1"/>
                </a:solidFill>
                <a:latin typeface="Arial"/>
                <a:ea typeface="Arial"/>
                <a:cs typeface="Arial"/>
              </a:defRPr>
            </a:pPr>
            <a:r>
              <a:rPr sz="1875" b="0">
                <a:solidFill>
                  <a:srgbClr val="526571"/>
                </a:solidFill>
                <a:latin typeface="Arial"/>
                <a:ea typeface="Arial"/>
                <a:cs typeface="Arial"/>
              </a:rPr>
              <a:t>final.json records a concern, the accepted response, and the conditions that remain.</a:t>
            </a:r>
          </a:p>
        </p:txBody>
      </p:sp>
      <p:sp>
        <p:nvSpPr>
          <p:cNvPr id="3" name="text-83">
            <a:extLst xmlns:a="http://schemas.openxmlformats.org/drawingml/2006/main">
              <a:ext uri="{FF2B5EF4-FFF2-40B4-BE49-F238E27FC236}">
                <a16:creationId xmlns:a16="http://schemas.microsoft.com/office/drawing/2014/main" id="{DD63650D-3A6F-42F0-B952-6F65A970FF24}"/>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26571"/>
                </a:solidFill>
                <a:latin typeface="Arial"/>
                <a:ea typeface="Arial"/>
                <a:cs typeface="Arial"/>
              </a:defRPr>
            </a:pPr>
            <a:r>
              <a:rPr sz="1500" b="0">
                <a:solidFill>
                  <a:srgbClr val="526571"/>
                </a:solidFill>
                <a:latin typeface="Arial"/>
                <a:ea typeface="Arial"/>
                <a:cs typeface="Arial"/>
              </a:rPr>
              <a:t>10</a:t>
            </a:r>
          </a:p>
        </p:txBody>
      </p:sp>
      <p:sp>
        <p:nvSpPr>
          <p:cNvPr id="4" name="diagram-84">
            <a:extLst xmlns:a="http://schemas.openxmlformats.org/drawingml/2006/main">
              <a:ext uri="{FF2B5EF4-FFF2-40B4-BE49-F238E27FC236}">
                <a16:creationId xmlns:a16="http://schemas.microsoft.com/office/drawing/2014/main" id="{0FCF1DE7-CB01-4603-A7B3-B4EE6462E000}"/>
              </a:ext>
            </a:extLst>
          </p:cNvPr>
          <p:cNvSpPr>
            <a:spLocks xmlns:a="http://schemas.openxmlformats.org/drawingml/2006/main" noGrp="1"/>
          </p:cNvSpPr>
          <p:nvPr/>
        </p:nvSpPr>
        <p:spPr>
          <a:xfrm xmlns:a="http://schemas.openxmlformats.org/drawingml/2006/main">
            <a:off x="619125" y="2076450"/>
            <a:ext cx="3095625" cy="1409700"/>
          </a:xfrm>
          <a:prstGeom xmlns:a="http://schemas.openxmlformats.org/drawingml/2006/main" prst="rect">
            <a:avLst/>
          </a:prstGeom>
          <a:solidFill xmlns:a="http://schemas.openxmlformats.org/drawingml/2006/main">
            <a:srgbClr val="E6F0EB"/>
          </a:solidFill>
          <a:ln xmlns:a="http://schemas.openxmlformats.org/drawingml/2006/main" w="14288">
            <a:solidFill>
              <a:srgbClr val="176B65"/>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025" b="1">
                <a:solidFill>
                  <a:srgbClr val="122B3A"/>
                </a:solidFill>
                <a:latin typeface="Arial"/>
                <a:ea typeface="Arial"/>
                <a:cs typeface="Arial"/>
              </a:defRPr>
            </a:pPr>
            <a:r>
              <a:rPr sz="2025" b="1">
                <a:solidFill>
                  <a:srgbClr val="122B3A"/>
                </a:solidFill>
                <a:latin typeface="Arial"/>
                <a:ea typeface="Arial"/>
                <a:cs typeface="Arial"/>
              </a:rPr>
              <a:t>Critic concern</a:t>
            </a:r>
          </a:p>
          <a:p xmlns:a="http://schemas.openxmlformats.org/drawingml/2006/main">
            <a:pPr algn="ctr">
              <a:defRPr sz="2025" b="1">
                <a:solidFill>
                  <a:srgbClr val="122B3A"/>
                </a:solidFill>
                <a:latin typeface="Arial"/>
                <a:ea typeface="Arial"/>
                <a:cs typeface="Arial"/>
              </a:defRPr>
            </a:pPr>
            <a:r>
              <a:rPr sz="2025" b="1">
                <a:solidFill>
                  <a:srgbClr val="122B3A"/>
                </a:solidFill>
                <a:latin typeface="Arial"/>
                <a:ea typeface="Arial"/>
                <a:cs typeface="Arial"/>
              </a:rPr>
              <a:t>How will sensitive</a:t>
            </a:r>
          </a:p>
          <a:p xmlns:a="http://schemas.openxmlformats.org/drawingml/2006/main">
            <a:pPr algn="ctr">
              <a:defRPr sz="2025" b="1">
                <a:solidFill>
                  <a:srgbClr val="122B3A"/>
                </a:solidFill>
                <a:latin typeface="Arial"/>
                <a:ea typeface="Arial"/>
                <a:cs typeface="Arial"/>
              </a:defRPr>
            </a:pPr>
            <a:r>
              <a:rPr sz="2025" b="1">
                <a:solidFill>
                  <a:srgbClr val="122B3A"/>
                </a:solidFill>
                <a:latin typeface="Arial"/>
                <a:ea typeface="Arial"/>
                <a:cs typeface="Arial"/>
              </a:rPr>
              <a:t>records be protected?</a:t>
            </a:r>
          </a:p>
        </p:txBody>
      </p:sp>
      <p:sp>
        <p:nvSpPr>
          <p:cNvPr id="5" name="diagram-85">
            <a:extLst xmlns:a="http://schemas.openxmlformats.org/drawingml/2006/main">
              <a:ext uri="{FF2B5EF4-FFF2-40B4-BE49-F238E27FC236}">
                <a16:creationId xmlns:a16="http://schemas.microsoft.com/office/drawing/2014/main" id="{FD299E25-B6E9-49D4-BBCB-273F2856C1B8}"/>
              </a:ext>
            </a:extLst>
          </p:cNvPr>
          <p:cNvSpPr>
            <a:spLocks xmlns:a="http://schemas.openxmlformats.org/drawingml/2006/main" noGrp="1"/>
          </p:cNvSpPr>
          <p:nvPr/>
        </p:nvSpPr>
        <p:spPr>
          <a:xfrm xmlns:a="http://schemas.openxmlformats.org/drawingml/2006/main">
            <a:off x="4533900" y="2076450"/>
            <a:ext cx="3095625" cy="1409700"/>
          </a:xfrm>
          <a:prstGeom xmlns:a="http://schemas.openxmlformats.org/drawingml/2006/main" prst="rect">
            <a:avLst/>
          </a:prstGeom>
          <a:solidFill xmlns:a="http://schemas.openxmlformats.org/drawingml/2006/main">
            <a:srgbClr val="E9EEF9"/>
          </a:solidFill>
          <a:ln xmlns:a="http://schemas.openxmlformats.org/drawingml/2006/main" w="14288">
            <a:solidFill>
              <a:srgbClr val="315CCB"/>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025" b="1">
                <a:solidFill>
                  <a:srgbClr val="122B3A"/>
                </a:solidFill>
                <a:latin typeface="Arial"/>
                <a:ea typeface="Arial"/>
                <a:cs typeface="Arial"/>
              </a:defRPr>
            </a:pPr>
            <a:r>
              <a:rPr sz="2025" b="1">
                <a:solidFill>
                  <a:srgbClr val="122B3A"/>
                </a:solidFill>
                <a:latin typeface="Arial"/>
                <a:ea typeface="Arial"/>
                <a:cs typeface="Arial"/>
              </a:rPr>
              <a:t>Proposer response</a:t>
            </a:r>
          </a:p>
          <a:p xmlns:a="http://schemas.openxmlformats.org/drawingml/2006/main">
            <a:pPr algn="ctr">
              <a:defRPr sz="2025" b="1">
                <a:solidFill>
                  <a:srgbClr val="122B3A"/>
                </a:solidFill>
                <a:latin typeface="Arial"/>
                <a:ea typeface="Arial"/>
                <a:cs typeface="Arial"/>
              </a:defRPr>
            </a:pPr>
            <a:r>
              <a:rPr sz="2025" b="1">
                <a:solidFill>
                  <a:srgbClr val="122B3A"/>
                </a:solidFill>
                <a:latin typeface="Arial"/>
                <a:ea typeface="Arial"/>
                <a:cs typeface="Arial"/>
              </a:rPr>
              <a:t>Filter records before</a:t>
            </a:r>
          </a:p>
          <a:p xmlns:a="http://schemas.openxmlformats.org/drawingml/2006/main">
            <a:pPr algn="ctr">
              <a:defRPr sz="2025" b="1">
                <a:solidFill>
                  <a:srgbClr val="122B3A"/>
                </a:solidFill>
                <a:latin typeface="Arial"/>
                <a:ea typeface="Arial"/>
                <a:cs typeface="Arial"/>
              </a:defRPr>
            </a:pPr>
            <a:r>
              <a:rPr sz="2025" b="1">
                <a:solidFill>
                  <a:srgbClr val="122B3A"/>
                </a:solidFill>
                <a:latin typeface="Arial"/>
                <a:ea typeface="Arial"/>
                <a:cs typeface="Arial"/>
              </a:rPr>
              <a:t>they reach the user</a:t>
            </a:r>
          </a:p>
        </p:txBody>
      </p:sp>
      <p:sp>
        <p:nvSpPr>
          <p:cNvPr id="6" name="diagram-86">
            <a:extLst xmlns:a="http://schemas.openxmlformats.org/drawingml/2006/main">
              <a:ext uri="{FF2B5EF4-FFF2-40B4-BE49-F238E27FC236}">
                <a16:creationId xmlns:a16="http://schemas.microsoft.com/office/drawing/2014/main" id="{72E268B3-9700-4E69-9F3D-2EEED3015FA9}"/>
              </a:ext>
            </a:extLst>
          </p:cNvPr>
          <p:cNvSpPr>
            <a:spLocks xmlns:a="http://schemas.openxmlformats.org/drawingml/2006/main" noGrp="1"/>
          </p:cNvSpPr>
          <p:nvPr/>
        </p:nvSpPr>
        <p:spPr>
          <a:xfrm xmlns:a="http://schemas.openxmlformats.org/drawingml/2006/main">
            <a:off x="8439150" y="2076450"/>
            <a:ext cx="3095625" cy="1409700"/>
          </a:xfrm>
          <a:prstGeom xmlns:a="http://schemas.openxmlformats.org/drawingml/2006/main" prst="rect">
            <a:avLst/>
          </a:prstGeom>
          <a:solidFill xmlns:a="http://schemas.openxmlformats.org/drawingml/2006/main">
            <a:srgbClr val="F5E9E2"/>
          </a:solidFill>
          <a:ln xmlns:a="http://schemas.openxmlformats.org/drawingml/2006/main" w="14288">
            <a:solidFill>
              <a:srgbClr val="A54E39"/>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025" b="1">
                <a:solidFill>
                  <a:srgbClr val="122B3A"/>
                </a:solidFill>
                <a:latin typeface="Arial"/>
                <a:ea typeface="Arial"/>
                <a:cs typeface="Arial"/>
              </a:defRPr>
            </a:pPr>
            <a:r>
              <a:rPr sz="2025" b="1">
                <a:solidFill>
                  <a:srgbClr val="122B3A"/>
                </a:solidFill>
                <a:latin typeface="Arial"/>
                <a:ea typeface="Arial"/>
                <a:cs typeface="Arial"/>
              </a:rPr>
              <a:t>Recorded outcome</a:t>
            </a:r>
          </a:p>
          <a:p xmlns:a="http://schemas.openxmlformats.org/drawingml/2006/main">
            <a:pPr algn="ctr">
              <a:defRPr sz="2025" b="1">
                <a:solidFill>
                  <a:srgbClr val="122B3A"/>
                </a:solidFill>
                <a:latin typeface="Arial"/>
                <a:ea typeface="Arial"/>
                <a:cs typeface="Arial"/>
              </a:defRPr>
            </a:pPr>
            <a:r>
              <a:rPr sz="2025" b="1">
                <a:solidFill>
                  <a:srgbClr val="122B3A"/>
                </a:solidFill>
                <a:latin typeface="Arial"/>
                <a:ea typeface="Arial"/>
                <a:cs typeface="Arial"/>
              </a:rPr>
              <a:t>Critic accepts C4</a:t>
            </a:r>
          </a:p>
          <a:p xmlns:a="http://schemas.openxmlformats.org/drawingml/2006/main">
            <a:pPr algn="ctr">
              <a:defRPr sz="2025" b="1">
                <a:solidFill>
                  <a:srgbClr val="122B3A"/>
                </a:solidFill>
                <a:latin typeface="Arial"/>
                <a:ea typeface="Arial"/>
                <a:cs typeface="Arial"/>
              </a:defRPr>
            </a:pPr>
            <a:r>
              <a:rPr sz="2025" b="1">
                <a:solidFill>
                  <a:srgbClr val="122B3A"/>
                </a:solidFill>
                <a:latin typeface="Arial"/>
                <a:ea typeface="Arial"/>
                <a:cs typeface="Arial"/>
              </a:rPr>
              <a:t>as a design choice</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3714750" y="2781300"/>
            <a:ext cx="819150" cy="0"/>
          </a:xfrm>
          <a:prstGeom xmlns:a="http://schemas.openxmlformats.org/drawingml/2006/main" prst="straightConnector1">
            <a:avLst/>
          </a:prstGeom>
          <a:ln xmlns:a="http://schemas.openxmlformats.org/drawingml/2006/main" w="20955">
            <a:solidFill>
              <a:srgbClr val="526571"/>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629525" y="2781300"/>
            <a:ext cx="809625" cy="0"/>
          </a:xfrm>
          <a:prstGeom xmlns:a="http://schemas.openxmlformats.org/drawingml/2006/main" prst="straightConnector1">
            <a:avLst/>
          </a:prstGeom>
          <a:ln xmlns:a="http://schemas.openxmlformats.org/drawingml/2006/main" w="20955">
            <a:solidFill>
              <a:srgbClr val="526571"/>
            </a:solidFill>
            <a:tailEnd type="triangle" w="med" len="med"/>
          </a:ln>
        </p:spPr>
      </p:cxnSp>
      <p:sp>
        <p:nvSpPr>
          <p:cNvPr id="9" name="text-87">
            <a:extLst xmlns:a="http://schemas.openxmlformats.org/drawingml/2006/main">
              <a:ext uri="{FF2B5EF4-FFF2-40B4-BE49-F238E27FC236}">
                <a16:creationId xmlns:a16="http://schemas.microsoft.com/office/drawing/2014/main" id="{A6BA8C09-E4AE-40E9-ABA3-E4F404C798F9}"/>
              </a:ext>
            </a:extLst>
          </p:cNvPr>
          <p:cNvSpPr>
            <a:spLocks xmlns:a="http://schemas.openxmlformats.org/drawingml/2006/main" noGrp="1"/>
          </p:cNvSpPr>
          <p:nvPr/>
        </p:nvSpPr>
        <p:spPr>
          <a:xfrm xmlns:a="http://schemas.openxmlformats.org/drawingml/2006/main">
            <a:off x="619125" y="40386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2B3A"/>
                </a:solidFill>
                <a:latin typeface="Arial"/>
                <a:ea typeface="Arial"/>
                <a:cs typeface="Arial"/>
              </a:defRPr>
            </a:pPr>
            <a:r>
              <a:rPr sz="2100" b="1">
                <a:solidFill>
                  <a:srgbClr val="122B3A"/>
                </a:solidFill>
                <a:latin typeface="Arial"/>
                <a:ea typeface="Arial"/>
                <a:cs typeface="Arial"/>
              </a:rPr>
              <a:t>Useful scope</a:t>
            </a:r>
          </a:p>
        </p:txBody>
      </p:sp>
      <p:sp>
        <p:nvSpPr>
          <p:cNvPr id="10" name="text-88">
            <a:extLst xmlns:a="http://schemas.openxmlformats.org/drawingml/2006/main">
              <a:ext uri="{FF2B5EF4-FFF2-40B4-BE49-F238E27FC236}">
                <a16:creationId xmlns:a16="http://schemas.microsoft.com/office/drawing/2014/main" id="{375B6208-9310-4816-8C0D-8E0296047FDC}"/>
              </a:ext>
            </a:extLst>
          </p:cNvPr>
          <p:cNvSpPr>
            <a:spLocks xmlns:a="http://schemas.openxmlformats.org/drawingml/2006/main" noGrp="1"/>
          </p:cNvSpPr>
          <p:nvPr/>
        </p:nvSpPr>
        <p:spPr>
          <a:xfrm xmlns:a="http://schemas.openxmlformats.org/drawingml/2006/main">
            <a:off x="619125" y="44767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1"/>
                </a:solidFill>
                <a:latin typeface="Arial"/>
                <a:ea typeface="Arial"/>
                <a:cs typeface="Arial"/>
              </a:defRPr>
            </a:pPr>
            <a:r>
              <a:rPr sz="1950" b="0">
                <a:solidFill>
                  <a:srgbClr val="526571"/>
                </a:solidFill>
                <a:latin typeface="Arial"/>
                <a:ea typeface="Arial"/>
                <a:cs typeface="Arial"/>
              </a:rPr>
              <a:t>Included and excluded behavior, assumptions, success criteria, and message references.</a:t>
            </a:r>
          </a:p>
        </p:txBody>
      </p:sp>
      <p:sp>
        <p:nvSpPr>
          <p:cNvPr id="11" name="text-89">
            <a:extLst xmlns:a="http://schemas.openxmlformats.org/drawingml/2006/main">
              <a:ext uri="{FF2B5EF4-FFF2-40B4-BE49-F238E27FC236}">
                <a16:creationId xmlns:a16="http://schemas.microsoft.com/office/drawing/2014/main" id="{14040072-353B-451A-B27E-C02830CDE406}"/>
              </a:ext>
            </a:extLst>
          </p:cNvPr>
          <p:cNvSpPr>
            <a:spLocks xmlns:a="http://schemas.openxmlformats.org/drawingml/2006/main" noGrp="1"/>
          </p:cNvSpPr>
          <p:nvPr/>
        </p:nvSpPr>
        <p:spPr>
          <a:xfrm xmlns:a="http://schemas.openxmlformats.org/drawingml/2006/main">
            <a:off x="6477000" y="40386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2B3A"/>
                </a:solidFill>
                <a:latin typeface="Arial"/>
                <a:ea typeface="Arial"/>
                <a:cs typeface="Arial"/>
              </a:defRPr>
            </a:pPr>
            <a:r>
              <a:rPr sz="2100" b="1">
                <a:solidFill>
                  <a:srgbClr val="122B3A"/>
                </a:solidFill>
                <a:latin typeface="Arial"/>
                <a:ea typeface="Arial"/>
                <a:cs typeface="Arial"/>
              </a:rPr>
              <a:t>Genuine open questions</a:t>
            </a:r>
          </a:p>
        </p:txBody>
      </p:sp>
      <p:sp>
        <p:nvSpPr>
          <p:cNvPr id="12" name="text-90">
            <a:extLst xmlns:a="http://schemas.openxmlformats.org/drawingml/2006/main">
              <a:ext uri="{FF2B5EF4-FFF2-40B4-BE49-F238E27FC236}">
                <a16:creationId xmlns:a16="http://schemas.microsoft.com/office/drawing/2014/main" id="{7360E852-81A3-4115-8EA2-F4B52A0ECD01}"/>
              </a:ext>
            </a:extLst>
          </p:cNvPr>
          <p:cNvSpPr>
            <a:spLocks xmlns:a="http://schemas.openxmlformats.org/drawingml/2006/main" noGrp="1"/>
          </p:cNvSpPr>
          <p:nvPr/>
        </p:nvSpPr>
        <p:spPr>
          <a:xfrm xmlns:a="http://schemas.openxmlformats.org/drawingml/2006/main">
            <a:off x="6477000" y="44767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1"/>
                </a:solidFill>
                <a:latin typeface="Arial"/>
                <a:ea typeface="Arial"/>
                <a:cs typeface="Arial"/>
              </a:defRPr>
            </a:pPr>
            <a:r>
              <a:rPr sz="1950" b="0">
                <a:solidFill>
                  <a:srgbClr val="526571"/>
                </a:solidFill>
                <a:latin typeface="Arial"/>
                <a:ea typeface="Arial"/>
                <a:cs typeface="Arial"/>
              </a:rPr>
              <a:t>Who owns authorization and workflow decisions? What must wait until they decide?</a:t>
            </a:r>
          </a:p>
        </p:txBody>
      </p:sp>
      <p:sp>
        <p:nvSpPr>
          <p:cNvPr id="13" name="text-91">
            <a:extLst xmlns:a="http://schemas.openxmlformats.org/drawingml/2006/main">
              <a:ext uri="{FF2B5EF4-FFF2-40B4-BE49-F238E27FC236}">
                <a16:creationId xmlns:a16="http://schemas.microsoft.com/office/drawing/2014/main" id="{6A229C4F-3212-4BFE-B3C2-BB6E729D4254}"/>
              </a:ext>
            </a:extLst>
          </p:cNvPr>
          <p:cNvSpPr>
            <a:spLocks xmlns:a="http://schemas.openxmlformats.org/drawingml/2006/main" noGrp="1"/>
          </p:cNvSpPr>
          <p:nvPr/>
        </p:nvSpPr>
        <p:spPr>
          <a:xfrm xmlns:a="http://schemas.openxmlformats.org/drawingml/2006/main">
            <a:off x="619125" y="57912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A54E39"/>
                </a:solidFill>
                <a:latin typeface="Arial"/>
                <a:ea typeface="Arial"/>
                <a:cs typeface="Arial"/>
              </a:defRPr>
            </a:pPr>
            <a:r>
              <a:rPr sz="1800" b="0">
                <a:solidFill>
                  <a:srgbClr val="A54E39"/>
                </a:solidFill>
                <a:latin typeface="Arial"/>
                <a:ea typeface="Arial"/>
                <a:cs typeface="Arial"/>
              </a:rPr>
              <a:t>Remaining review issue: one explanation allows parallel UX work while another leaves it undecided.</a:t>
            </a:r>
          </a:p>
        </p:txBody>
      </p:sp>
    </p:spTree>
    <p:extLst>
      <p:ext uri="{BB962C8B-B14F-4D97-AF65-F5344CB8AC3E}">
        <p14:creationId xmlns:p14="http://schemas.microsoft.com/office/powerpoint/2010/main" val="1572379294"/>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text-92">
            <a:extLst xmlns:a="http://schemas.openxmlformats.org/drawingml/2006/main">
              <a:ext uri="{FF2B5EF4-FFF2-40B4-BE49-F238E27FC236}">
                <a16:creationId xmlns:a16="http://schemas.microsoft.com/office/drawing/2014/main" id="{B75ED4C3-87B2-418A-85BE-207AE9265A61}"/>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B3A"/>
                </a:solidFill>
                <a:latin typeface="Arial"/>
                <a:ea typeface="Arial"/>
                <a:cs typeface="Arial"/>
              </a:defRPr>
            </a:pPr>
            <a:r>
              <a:rPr sz="3450" b="1">
                <a:solidFill>
                  <a:srgbClr val="122B3A"/>
                </a:solidFill>
                <a:latin typeface="Arial"/>
                <a:ea typeface="Arial"/>
                <a:cs typeface="Arial"/>
              </a:rPr>
              <a:t>Confidence makes uncertainty visible</a:t>
            </a:r>
          </a:p>
        </p:txBody>
      </p:sp>
      <p:sp>
        <p:nvSpPr>
          <p:cNvPr id="2" name="text-93">
            <a:extLst xmlns:a="http://schemas.openxmlformats.org/drawingml/2006/main">
              <a:ext uri="{FF2B5EF4-FFF2-40B4-BE49-F238E27FC236}">
                <a16:creationId xmlns:a16="http://schemas.microsoft.com/office/drawing/2014/main" id="{F3F27882-2284-445D-9C49-9E3C37A4CA79}"/>
              </a:ext>
            </a:extLst>
          </p:cNvPr>
          <p:cNvSpPr>
            <a:spLocks xmlns:a="http://schemas.openxmlformats.org/drawingml/2006/main" noGrp="1"/>
          </p:cNvSpPr>
          <p:nvPr/>
        </p:nvSpPr>
        <p:spPr>
          <a:xfrm xmlns:a="http://schemas.openxmlformats.org/drawingml/2006/main">
            <a:off x="628650" y="12001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1"/>
                </a:solidFill>
                <a:latin typeface="Arial"/>
                <a:ea typeface="Arial"/>
                <a:cs typeface="Arial"/>
              </a:defRPr>
            </a:pPr>
            <a:r>
              <a:rPr sz="1875" b="0">
                <a:solidFill>
                  <a:srgbClr val="526571"/>
                </a:solidFill>
                <a:latin typeface="Arial"/>
                <a:ea typeface="Arial"/>
                <a:cs typeface="Arial"/>
              </a:rPr>
              <a:t>Each agent reports a score, a justification, and its main uncertainty.</a:t>
            </a:r>
          </a:p>
        </p:txBody>
      </p:sp>
      <p:sp>
        <p:nvSpPr>
          <p:cNvPr id="3" name="text-94">
            <a:extLst xmlns:a="http://schemas.openxmlformats.org/drawingml/2006/main">
              <a:ext uri="{FF2B5EF4-FFF2-40B4-BE49-F238E27FC236}">
                <a16:creationId xmlns:a16="http://schemas.microsoft.com/office/drawing/2014/main" id="{8B8AD169-F09A-466C-8BA7-572E05DCF00A}"/>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26571"/>
                </a:solidFill>
                <a:latin typeface="Arial"/>
                <a:ea typeface="Arial"/>
                <a:cs typeface="Arial"/>
              </a:defRPr>
            </a:pPr>
            <a:r>
              <a:rPr sz="1500" b="0">
                <a:solidFill>
                  <a:srgbClr val="526571"/>
                </a:solidFill>
                <a:latin typeface="Arial"/>
                <a:ea typeface="Arial"/>
                <a:cs typeface="Arial"/>
              </a:rPr>
              <a:t>11</a:t>
            </a:r>
          </a:p>
        </p:txBody>
      </p:sp>
      <p:sp>
        <p:nvSpPr>
          <p:cNvPr id="4" name="text-95">
            <a:extLst xmlns:a="http://schemas.openxmlformats.org/drawingml/2006/main">
              <a:ext uri="{FF2B5EF4-FFF2-40B4-BE49-F238E27FC236}">
                <a16:creationId xmlns:a16="http://schemas.microsoft.com/office/drawing/2014/main" id="{558BE74A-281E-4F97-B710-CE31F7BA6785}"/>
              </a:ext>
            </a:extLst>
          </p:cNvPr>
          <p:cNvSpPr>
            <a:spLocks xmlns:a="http://schemas.openxmlformats.org/drawingml/2006/main" noGrp="1"/>
          </p:cNvSpPr>
          <p:nvPr/>
        </p:nvSpPr>
        <p:spPr>
          <a:xfrm xmlns:a="http://schemas.openxmlformats.org/drawingml/2006/main">
            <a:off x="628650" y="18478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22B3A"/>
                </a:solidFill>
                <a:latin typeface="Arial"/>
                <a:ea typeface="Arial"/>
                <a:cs typeface="Arial"/>
              </a:defRPr>
            </a:pPr>
            <a:r>
              <a:rPr sz="2175" b="0">
                <a:solidFill>
                  <a:srgbClr val="122B3A"/>
                </a:solidFill>
                <a:latin typeface="Arial"/>
                <a:ea typeface="Arial"/>
                <a:cs typeface="Arial"/>
              </a:rPr>
              <a:t>The prompt asks for five ratings from 0 to 4.</a:t>
            </a:r>
          </a:p>
          <a:p xmlns:a="http://schemas.openxmlformats.org/drawingml/2006/main">
            <a:pPr algn="l">
              <a:defRPr sz="2175" b="0">
                <a:solidFill>
                  <a:srgbClr val="122B3A"/>
                </a:solidFill>
                <a:latin typeface="Arial"/>
                <a:ea typeface="Arial"/>
                <a:cs typeface="Arial"/>
              </a:defRPr>
            </a:pPr>
            <a:r>
              <a:rPr sz="2175" b="0">
                <a:solidFill>
                  <a:srgbClr val="122B3A"/>
                </a:solidFill>
                <a:latin typeface="Arial"/>
                <a:ea typeface="Arial"/>
                <a:cs typeface="Arial"/>
              </a:rPr>
              <a:t>The requested total is 5 × their sum, capped at 60 when agreement is blocked.</a:t>
            </a:r>
          </a:p>
        </p:txBody>
      </p:sp>
      <p:graphicFrame>
        <p:nvGraphicFramePr>
          <p:cNvPr id="12" name=""/>
          <p:cNvGraphicFramePr/>
          <p:nvPr/>
        </p:nvGraphicFramePr>
        <p:xfrm>
          <a:off xmlns:a="http://schemas.openxmlformats.org/drawingml/2006/main" x="619125" y="3219450"/>
          <a:ext xmlns:a="http://schemas.openxmlformats.org/drawingml/2006/main" cx="10934700" cy="1885950"/>
        </p:xfrm>
        <a:graphic xmlns:a="http://schemas.openxmlformats.org/drawingml/2006/main">
          <a:graphicData uri="http://schemas.openxmlformats.org/drawingml/2006/table">
            <a:tbl>
              <a:tblPr/>
              <a:tblGrid>
                <a:gridCol w="3429000"/>
                <a:gridCol w="3095625"/>
                <a:gridCol w="4410075"/>
              </a:tblGrid>
              <a:tr h="628650">
                <a:tc>
                  <a:txBody>
                    <a:bodyPr lIns="142875" tIns="95250" rIns="142875" bIns="95250">
                      <a:noAutofit/>
                    </a:bodyPr>
                    <a:lstStyle/>
                    <a:p>
                      <a:pPr algn="l"/>
                      <a:r>
                        <a:rPr sz="2100" b="1">
                          <a:solidFill>
                            <a:srgbClr val="FFFFFF"/>
                          </a:solidFill>
                          <a:latin typeface="Arial"/>
                          <a:ea typeface="Arial"/>
                          <a:cs typeface="Arial"/>
                        </a:rPr>
                        <a:t>Agent</a:t>
                      </a:r>
                    </a:p>
                  </a:txBody>
                  <a:tcPr marL="91440" marR="91440" marT="45720" marB="45720" anchor="ctr">
                    <a:solidFill>
                      <a:srgbClr val="122B3A"/>
                    </a:solidFill>
                  </a:tcPr>
                </a:tc>
                <a:tc>
                  <a:txBody>
                    <a:bodyPr lIns="142875" tIns="95250" rIns="142875" bIns="95250">
                      <a:noAutofit/>
                    </a:bodyPr>
                    <a:lstStyle/>
                    <a:p>
                      <a:pPr algn="l"/>
                      <a:r>
                        <a:rPr sz="2100" b="1">
                          <a:solidFill>
                            <a:srgbClr val="FFFFFF"/>
                          </a:solidFill>
                          <a:latin typeface="Arial"/>
                          <a:ea typeface="Arial"/>
                          <a:cs typeface="Arial"/>
                        </a:rPr>
                        <a:t>Reported score</a:t>
                      </a:r>
                    </a:p>
                  </a:txBody>
                  <a:tcPr marL="91440" marR="91440" marT="45720" marB="45720" anchor="ctr">
                    <a:solidFill>
                      <a:srgbClr val="122B3A"/>
                    </a:solidFill>
                  </a:tcPr>
                </a:tc>
                <a:tc>
                  <a:txBody>
                    <a:bodyPr lIns="142875" tIns="95250" rIns="142875" bIns="95250">
                      <a:noAutofit/>
                    </a:bodyPr>
                    <a:lstStyle/>
                    <a:p>
                      <a:pPr algn="l"/>
                      <a:r>
                        <a:rPr sz="2100" b="1">
                          <a:solidFill>
                            <a:srgbClr val="FFFFFF"/>
                          </a:solidFill>
                          <a:latin typeface="Arial"/>
                          <a:ea typeface="Arial"/>
                          <a:cs typeface="Arial"/>
                        </a:rPr>
                        <a:t>Total from listed ratings</a:t>
                      </a:r>
                    </a:p>
                  </a:txBody>
                  <a:tcPr marL="91440" marR="91440" marT="45720" marB="45720" anchor="ctr">
                    <a:solidFill>
                      <a:srgbClr val="122B3A"/>
                    </a:solidFill>
                  </a:tcPr>
                </a:tc>
              </a:tr>
              <a:tr h="628650">
                <a:tc>
                  <a:txBody>
                    <a:bodyPr lIns="142875" tIns="95250" rIns="142875" bIns="95250">
                      <a:noAutofit/>
                    </a:bodyPr>
                    <a:lstStyle/>
                    <a:p>
                      <a:pPr algn="l"/>
                      <a:r>
                        <a:rPr sz="2100" b="0">
                          <a:solidFill>
                            <a:srgbClr val="122B3A"/>
                          </a:solidFill>
                          <a:latin typeface="Arial"/>
                          <a:ea typeface="Arial"/>
                          <a:cs typeface="Arial"/>
                        </a:rPr>
                        <a:t>Proposer</a:t>
                      </a:r>
                    </a:p>
                  </a:txBody>
                  <a:tcPr marL="91440" marR="91440" marT="45720" marB="45720" anchor="ctr">
                    <a:solidFill>
                      <a:srgbClr val="FFFFFF"/>
                    </a:solidFill>
                  </a:tcPr>
                </a:tc>
                <a:tc>
                  <a:txBody>
                    <a:bodyPr lIns="142875" tIns="95250" rIns="142875" bIns="95250">
                      <a:noAutofit/>
                    </a:bodyPr>
                    <a:lstStyle/>
                    <a:p>
                      <a:pPr algn="l"/>
                      <a:r>
                        <a:rPr sz="2100" b="0">
                          <a:solidFill>
                            <a:srgbClr val="122B3A"/>
                          </a:solidFill>
                          <a:latin typeface="Arial"/>
                          <a:ea typeface="Arial"/>
                          <a:cs typeface="Arial"/>
                        </a:rPr>
                        <a:t>72</a:t>
                      </a:r>
                    </a:p>
                  </a:txBody>
                  <a:tcPr marL="91440" marR="91440" marT="45720" marB="45720" anchor="ctr">
                    <a:solidFill>
                      <a:srgbClr val="FFFFFF"/>
                    </a:solidFill>
                  </a:tcPr>
                </a:tc>
                <a:tc>
                  <a:txBody>
                    <a:bodyPr lIns="142875" tIns="95250" rIns="142875" bIns="95250">
                      <a:noAutofit/>
                    </a:bodyPr>
                    <a:lstStyle/>
                    <a:p>
                      <a:pPr algn="l"/>
                      <a:r>
                        <a:rPr sz="2100" b="0">
                          <a:solidFill>
                            <a:srgbClr val="122B3A"/>
                          </a:solidFill>
                          <a:latin typeface="Arial"/>
                          <a:ea typeface="Arial"/>
                          <a:cs typeface="Arial"/>
                        </a:rPr>
                        <a:t>75</a:t>
                      </a:r>
                    </a:p>
                  </a:txBody>
                  <a:tcPr marL="91440" marR="91440" marT="45720" marB="45720" anchor="ctr">
                    <a:solidFill>
                      <a:srgbClr val="FFFFFF"/>
                    </a:solidFill>
                  </a:tcPr>
                </a:tc>
              </a:tr>
              <a:tr h="628650">
                <a:tc>
                  <a:txBody>
                    <a:bodyPr lIns="142875" tIns="95250" rIns="142875" bIns="95250">
                      <a:noAutofit/>
                    </a:bodyPr>
                    <a:lstStyle/>
                    <a:p>
                      <a:pPr algn="l"/>
                      <a:r>
                        <a:rPr sz="2100" b="0">
                          <a:solidFill>
                            <a:srgbClr val="122B3A"/>
                          </a:solidFill>
                          <a:latin typeface="Arial"/>
                          <a:ea typeface="Arial"/>
                          <a:cs typeface="Arial"/>
                        </a:rPr>
                        <a:t>Critic</a:t>
                      </a:r>
                    </a:p>
                  </a:txBody>
                  <a:tcPr marL="91440" marR="91440" marT="45720" marB="45720" anchor="ctr">
                    <a:solidFill>
                      <a:srgbClr val="EEF1EF"/>
                    </a:solidFill>
                  </a:tcPr>
                </a:tc>
                <a:tc>
                  <a:txBody>
                    <a:bodyPr lIns="142875" tIns="95250" rIns="142875" bIns="95250">
                      <a:noAutofit/>
                    </a:bodyPr>
                    <a:lstStyle/>
                    <a:p>
                      <a:pPr algn="l"/>
                      <a:r>
                        <a:rPr sz="2100" b="0">
                          <a:solidFill>
                            <a:srgbClr val="122B3A"/>
                          </a:solidFill>
                          <a:latin typeface="Arial"/>
                          <a:ea typeface="Arial"/>
                          <a:cs typeface="Arial"/>
                        </a:rPr>
                        <a:t>76</a:t>
                      </a:r>
                    </a:p>
                  </a:txBody>
                  <a:tcPr marL="91440" marR="91440" marT="45720" marB="45720" anchor="ctr">
                    <a:solidFill>
                      <a:srgbClr val="EEF1EF"/>
                    </a:solidFill>
                  </a:tcPr>
                </a:tc>
                <a:tc>
                  <a:txBody>
                    <a:bodyPr lIns="142875" tIns="95250" rIns="142875" bIns="95250">
                      <a:noAutofit/>
                    </a:bodyPr>
                    <a:lstStyle/>
                    <a:p>
                      <a:pPr algn="l"/>
                      <a:r>
                        <a:rPr sz="2100" b="0">
                          <a:solidFill>
                            <a:srgbClr val="122B3A"/>
                          </a:solidFill>
                          <a:latin typeface="Arial"/>
                          <a:ea typeface="Arial"/>
                          <a:cs typeface="Arial"/>
                        </a:rPr>
                        <a:t>85</a:t>
                      </a:r>
                    </a:p>
                  </a:txBody>
                  <a:tcPr marL="91440" marR="91440" marT="45720" marB="45720" anchor="ctr">
                    <a:solidFill>
                      <a:srgbClr val="EEF1EF"/>
                    </a:solidFill>
                  </a:tcPr>
                </a:tc>
              </a:tr>
            </a:tbl>
          </a:graphicData>
        </a:graphic>
      </p:graphicFrame>
      <p:sp>
        <p:nvSpPr>
          <p:cNvPr id="6" name="text-96">
            <a:extLst xmlns:a="http://schemas.openxmlformats.org/drawingml/2006/main">
              <a:ext uri="{FF2B5EF4-FFF2-40B4-BE49-F238E27FC236}">
                <a16:creationId xmlns:a16="http://schemas.microsoft.com/office/drawing/2014/main" id="{84704C39-A36F-444C-859B-3A0761C56DC4}"/>
              </a:ext>
            </a:extLst>
          </p:cNvPr>
          <p:cNvSpPr>
            <a:spLocks xmlns:a="http://schemas.openxmlformats.org/drawingml/2006/main" noGrp="1"/>
          </p:cNvSpPr>
          <p:nvPr/>
        </p:nvSpPr>
        <p:spPr>
          <a:xfrm xmlns:a="http://schemas.openxmlformats.org/drawingml/2006/main">
            <a:off x="638175" y="5476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54E39"/>
                </a:solidFill>
                <a:latin typeface="Arial"/>
                <a:ea typeface="Arial"/>
                <a:cs typeface="Arial"/>
              </a:defRPr>
            </a:pPr>
            <a:r>
              <a:rPr sz="2400" b="1">
                <a:solidFill>
                  <a:srgbClr val="A54E39"/>
                </a:solidFill>
                <a:latin typeface="Arial"/>
                <a:ea typeface="Arial"/>
                <a:cs typeface="Arial"/>
              </a:rPr>
              <a:t>Score arithmetic needs a separate check.</a:t>
            </a:r>
          </a:p>
        </p:txBody>
      </p:sp>
      <p:sp>
        <p:nvSpPr>
          <p:cNvPr id="7" name="text-97">
            <a:extLst xmlns:a="http://schemas.openxmlformats.org/drawingml/2006/main">
              <a:ext uri="{FF2B5EF4-FFF2-40B4-BE49-F238E27FC236}">
                <a16:creationId xmlns:a16="http://schemas.microsoft.com/office/drawing/2014/main" id="{63D66C0B-A4EC-410A-8ADC-E6187E4C5227}"/>
              </a:ext>
            </a:extLst>
          </p:cNvPr>
          <p:cNvSpPr>
            <a:spLocks xmlns:a="http://schemas.openxmlformats.org/drawingml/2006/main" noGrp="1"/>
          </p:cNvSpPr>
          <p:nvPr/>
        </p:nvSpPr>
        <p:spPr>
          <a:xfrm xmlns:a="http://schemas.openxmlformats.org/drawingml/2006/main">
            <a:off x="638175" y="59912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1"/>
                </a:solidFill>
                <a:latin typeface="Arial"/>
                <a:ea typeface="Arial"/>
                <a:cs typeface="Arial"/>
              </a:defRPr>
            </a:pPr>
            <a:r>
              <a:rPr sz="1875" b="0">
                <a:solidFill>
                  <a:srgbClr val="526571"/>
                </a:solidFill>
                <a:latin typeface="Arial"/>
                <a:ea typeface="Arial"/>
                <a:cs typeface="Arial"/>
              </a:rPr>
              <a:t>These are self-reported judgments. They never control termination.</a:t>
            </a:r>
          </a:p>
        </p:txBody>
      </p:sp>
    </p:spTree>
    <p:extLst>
      <p:ext uri="{BB962C8B-B14F-4D97-AF65-F5344CB8AC3E}">
        <p14:creationId xmlns:p14="http://schemas.microsoft.com/office/powerpoint/2010/main" val="159233349"/>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text-98">
            <a:extLst xmlns:a="http://schemas.openxmlformats.org/drawingml/2006/main">
              <a:ext uri="{FF2B5EF4-FFF2-40B4-BE49-F238E27FC236}">
                <a16:creationId xmlns:a16="http://schemas.microsoft.com/office/drawing/2014/main" id="{3C8C0B14-D23E-4F2F-80E3-3D5C978803FB}"/>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B3A"/>
                </a:solidFill>
                <a:latin typeface="Arial"/>
                <a:ea typeface="Arial"/>
                <a:cs typeface="Arial"/>
              </a:defRPr>
            </a:pPr>
            <a:r>
              <a:rPr sz="3450" b="1">
                <a:solidFill>
                  <a:srgbClr val="122B3A"/>
                </a:solidFill>
                <a:latin typeface="Arial"/>
                <a:ea typeface="Arial"/>
                <a:cs typeface="Arial"/>
              </a:rPr>
              <a:t>Trade-offs and the next evaluation</a:t>
            </a:r>
          </a:p>
        </p:txBody>
      </p:sp>
      <p:sp>
        <p:nvSpPr>
          <p:cNvPr id="2" name="text-99">
            <a:extLst xmlns:a="http://schemas.openxmlformats.org/drawingml/2006/main">
              <a:ext uri="{FF2B5EF4-FFF2-40B4-BE49-F238E27FC236}">
                <a16:creationId xmlns:a16="http://schemas.microsoft.com/office/drawing/2014/main" id="{66C2E01B-B5FB-4553-ADE1-FBE6EC73D26F}"/>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26571"/>
                </a:solidFill>
                <a:latin typeface="Arial"/>
                <a:ea typeface="Arial"/>
                <a:cs typeface="Arial"/>
              </a:defRPr>
            </a:pPr>
            <a:r>
              <a:rPr sz="1500" b="0">
                <a:solidFill>
                  <a:srgbClr val="526571"/>
                </a:solidFill>
                <a:latin typeface="Arial"/>
                <a:ea typeface="Arial"/>
                <a:cs typeface="Arial"/>
              </a:rPr>
              <a:t>12</a:t>
            </a:r>
          </a:p>
        </p:txBody>
      </p:sp>
      <p:graphicFrame>
        <p:nvGraphicFramePr>
          <p:cNvPr id="8" name=""/>
          <p:cNvGraphicFramePr/>
          <p:nvPr/>
        </p:nvGraphicFramePr>
        <p:xfrm>
          <a:off xmlns:a="http://schemas.openxmlformats.org/drawingml/2006/main" x="619125" y="1809750"/>
          <a:ext xmlns:a="http://schemas.openxmlformats.org/drawingml/2006/main" cx="10934700" cy="3429000"/>
        </p:xfrm>
        <a:graphic xmlns:a="http://schemas.openxmlformats.org/drawingml/2006/main">
          <a:graphicData uri="http://schemas.openxmlformats.org/drawingml/2006/table">
            <a:tbl>
              <a:tblPr/>
              <a:tblGrid>
                <a:gridCol w="3095625"/>
                <a:gridCol w="3924300"/>
                <a:gridCol w="3914775"/>
              </a:tblGrid>
              <a:tr h="533400">
                <a:tc>
                  <a:txBody>
                    <a:bodyPr lIns="142875" tIns="95250" rIns="142875" bIns="95250">
                      <a:noAutofit/>
                    </a:bodyPr>
                    <a:lstStyle/>
                    <a:p>
                      <a:pPr algn="l"/>
                      <a:r>
                        <a:rPr sz="1875" b="1">
                          <a:solidFill>
                            <a:srgbClr val="FFFFFF"/>
                          </a:solidFill>
                          <a:latin typeface="Arial"/>
                          <a:ea typeface="Arial"/>
                          <a:cs typeface="Arial"/>
                        </a:rPr>
                        <a:t>Design choice</a:t>
                      </a:r>
                    </a:p>
                  </a:txBody>
                  <a:tcPr marL="91440" marR="91440" marT="45720" marB="45720" anchor="ctr">
                    <a:solidFill>
                      <a:srgbClr val="122B3A"/>
                    </a:solidFill>
                  </a:tcPr>
                </a:tc>
                <a:tc>
                  <a:txBody>
                    <a:bodyPr lIns="142875" tIns="95250" rIns="142875" bIns="95250">
                      <a:noAutofit/>
                    </a:bodyPr>
                    <a:lstStyle/>
                    <a:p>
                      <a:pPr algn="l"/>
                      <a:r>
                        <a:rPr sz="1875" b="1">
                          <a:solidFill>
                            <a:srgbClr val="FFFFFF"/>
                          </a:solidFill>
                          <a:latin typeface="Arial"/>
                          <a:ea typeface="Arial"/>
                          <a:cs typeface="Arial"/>
                        </a:rPr>
                        <a:t>Why I chose it</a:t>
                      </a:r>
                    </a:p>
                  </a:txBody>
                  <a:tcPr marL="91440" marR="91440" marT="45720" marB="45720" anchor="ctr">
                    <a:solidFill>
                      <a:srgbClr val="122B3A"/>
                    </a:solidFill>
                  </a:tcPr>
                </a:tc>
                <a:tc>
                  <a:txBody>
                    <a:bodyPr lIns="142875" tIns="95250" rIns="142875" bIns="95250">
                      <a:noAutofit/>
                    </a:bodyPr>
                    <a:lstStyle/>
                    <a:p>
                      <a:pPr algn="l"/>
                      <a:r>
                        <a:rPr sz="1875" b="1">
                          <a:solidFill>
                            <a:srgbClr val="FFFFFF"/>
                          </a:solidFill>
                          <a:latin typeface="Arial"/>
                          <a:ea typeface="Arial"/>
                          <a:cs typeface="Arial"/>
                        </a:rPr>
                        <a:t>Cost or limitation</a:t>
                      </a:r>
                    </a:p>
                  </a:txBody>
                  <a:tcPr marL="91440" marR="91440" marT="45720" marB="45720" anchor="ctr">
                    <a:solidFill>
                      <a:srgbClr val="122B3A"/>
                    </a:solidFill>
                  </a:tcPr>
                </a:tc>
              </a:tr>
              <a:tr h="628650">
                <a:tc>
                  <a:txBody>
                    <a:bodyPr lIns="142875" tIns="95250" rIns="142875" bIns="95250">
                      <a:noAutofit/>
                    </a:bodyPr>
                    <a:lstStyle/>
                    <a:p>
                      <a:pPr algn="l"/>
                      <a:r>
                        <a:rPr sz="1875" b="0">
                          <a:solidFill>
                            <a:srgbClr val="122B3A"/>
                          </a:solidFill>
                          <a:latin typeface="Arial"/>
                          <a:ea typeface="Arial"/>
                          <a:cs typeface="Arial"/>
                        </a:rPr>
                        <a:t>Synchronous Python loop</a:t>
                      </a:r>
                    </a:p>
                  </a:txBody>
                  <a:tcPr marL="91440" marR="91440" marT="45720" marB="45720" anchor="ctr">
                    <a:solidFill>
                      <a:srgbClr val="FFFFFF"/>
                    </a:solidFill>
                  </a:tcPr>
                </a:tc>
                <a:tc>
                  <a:txBody>
                    <a:bodyPr lIns="142875" tIns="95250" rIns="142875" bIns="95250">
                      <a:noAutofit/>
                    </a:bodyPr>
                    <a:lstStyle/>
                    <a:p>
                      <a:pPr algn="l"/>
                      <a:r>
                        <a:rPr sz="1875" b="0">
                          <a:solidFill>
                            <a:srgbClr val="122B3A"/>
                          </a:solidFill>
                          <a:latin typeface="Arial"/>
                          <a:ea typeface="Arial"/>
                          <a:cs typeface="Arial"/>
                        </a:rPr>
                        <a:t>Straightforward control flow</a:t>
                      </a:r>
                    </a:p>
                  </a:txBody>
                  <a:tcPr marL="91440" marR="91440" marT="45720" marB="45720" anchor="ctr">
                    <a:solidFill>
                      <a:srgbClr val="FFFFFF"/>
                    </a:solidFill>
                  </a:tcPr>
                </a:tc>
                <a:tc>
                  <a:txBody>
                    <a:bodyPr lIns="142875" tIns="95250" rIns="142875" bIns="95250">
                      <a:noAutofit/>
                    </a:bodyPr>
                    <a:lstStyle/>
                    <a:p>
                      <a:pPr algn="l"/>
                      <a:r>
                        <a:rPr sz="1875" b="0">
                          <a:solidFill>
                            <a:srgbClr val="122B3A"/>
                          </a:solidFill>
                          <a:latin typeface="Arial"/>
                          <a:ea typeface="Arial"/>
                          <a:cs typeface="Arial"/>
                        </a:rPr>
                        <a:t>One call at a time</a:t>
                      </a:r>
                    </a:p>
                  </a:txBody>
                  <a:tcPr marL="91440" marR="91440" marT="45720" marB="45720" anchor="ctr">
                    <a:solidFill>
                      <a:srgbClr val="FFFFFF"/>
                    </a:solidFill>
                  </a:tcPr>
                </a:tc>
              </a:tr>
              <a:tr h="762000">
                <a:tc>
                  <a:txBody>
                    <a:bodyPr lIns="142875" tIns="95250" rIns="142875" bIns="95250">
                      <a:noAutofit/>
                    </a:bodyPr>
                    <a:lstStyle/>
                    <a:p>
                      <a:pPr algn="l"/>
                      <a:r>
                        <a:rPr sz="1875" b="0">
                          <a:solidFill>
                            <a:srgbClr val="122B3A"/>
                          </a:solidFill>
                          <a:latin typeface="Arial"/>
                          <a:ea typeface="Arial"/>
                          <a:cs typeface="Arial"/>
                        </a:rPr>
                        <a:t>Complete accepted history</a:t>
                      </a:r>
                    </a:p>
                  </a:txBody>
                  <a:tcPr marL="91440" marR="91440" marT="45720" marB="45720" anchor="ctr">
                    <a:solidFill>
                      <a:srgbClr val="EEF1EF"/>
                    </a:solidFill>
                  </a:tcPr>
                </a:tc>
                <a:tc>
                  <a:txBody>
                    <a:bodyPr lIns="142875" tIns="95250" rIns="142875" bIns="95250">
                      <a:noAutofit/>
                    </a:bodyPr>
                    <a:lstStyle/>
                    <a:p>
                      <a:pPr algn="l"/>
                      <a:r>
                        <a:rPr sz="1875" b="0">
                          <a:solidFill>
                            <a:srgbClr val="122B3A"/>
                          </a:solidFill>
                          <a:latin typeface="Arial"/>
                          <a:ea typeface="Arial"/>
                          <a:cs typeface="Arial"/>
                        </a:rPr>
                        <a:t>Preserves context and decisions</a:t>
                      </a:r>
                    </a:p>
                  </a:txBody>
                  <a:tcPr marL="91440" marR="91440" marT="45720" marB="45720" anchor="ctr">
                    <a:solidFill>
                      <a:srgbClr val="EEF1EF"/>
                    </a:solidFill>
                  </a:tcPr>
                </a:tc>
                <a:tc>
                  <a:txBody>
                    <a:bodyPr lIns="142875" tIns="95250" rIns="142875" bIns="95250">
                      <a:noAutofit/>
                    </a:bodyPr>
                    <a:lstStyle/>
                    <a:p>
                      <a:pPr algn="l"/>
                      <a:r>
                        <a:rPr sz="1875" b="0">
                          <a:solidFill>
                            <a:srgbClr val="122B3A"/>
                          </a:solidFill>
                          <a:latin typeface="Arial"/>
                          <a:ea typeface="Arial"/>
                          <a:cs typeface="Arial"/>
                        </a:rPr>
                        <a:t>Input size and call cost grow</a:t>
                      </a:r>
                    </a:p>
                  </a:txBody>
                  <a:tcPr marL="91440" marR="91440" marT="45720" marB="45720" anchor="ctr">
                    <a:solidFill>
                      <a:srgbClr val="EEF1EF"/>
                    </a:solidFill>
                  </a:tcPr>
                </a:tc>
              </a:tr>
              <a:tr h="762000">
                <a:tc>
                  <a:txBody>
                    <a:bodyPr lIns="142875" tIns="95250" rIns="142875" bIns="95250">
                      <a:noAutofit/>
                    </a:bodyPr>
                    <a:lstStyle/>
                    <a:p>
                      <a:pPr algn="l"/>
                      <a:r>
                        <a:rPr sz="1875" b="0">
                          <a:solidFill>
                            <a:srgbClr val="122B3A"/>
                          </a:solidFill>
                          <a:latin typeface="Arial"/>
                          <a:ea typeface="Arial"/>
                          <a:cs typeface="Arial"/>
                        </a:rPr>
                        <a:t>Strict output checks</a:t>
                      </a:r>
                    </a:p>
                  </a:txBody>
                  <a:tcPr marL="91440" marR="91440" marT="45720" marB="45720" anchor="ctr">
                    <a:solidFill>
                      <a:srgbClr val="FFFFFF"/>
                    </a:solidFill>
                  </a:tcPr>
                </a:tc>
                <a:tc>
                  <a:txBody>
                    <a:bodyPr lIns="142875" tIns="95250" rIns="142875" bIns="95250">
                      <a:noAutofit/>
                    </a:bodyPr>
                    <a:lstStyle/>
                    <a:p>
                      <a:pPr algn="l"/>
                      <a:r>
                        <a:rPr sz="1875" b="0">
                          <a:solidFill>
                            <a:srgbClr val="122B3A"/>
                          </a:solidFill>
                          <a:latin typeface="Arial"/>
                          <a:ea typeface="Arial"/>
                          <a:cs typeface="Arial"/>
                        </a:rPr>
                        <a:t>Rejects inconsistent IDs and references</a:t>
                      </a:r>
                    </a:p>
                  </a:txBody>
                  <a:tcPr marL="91440" marR="91440" marT="45720" marB="45720" anchor="ctr">
                    <a:solidFill>
                      <a:srgbClr val="FFFFFF"/>
                    </a:solidFill>
                  </a:tcPr>
                </a:tc>
                <a:tc>
                  <a:txBody>
                    <a:bodyPr lIns="142875" tIns="95250" rIns="142875" bIns="95250">
                      <a:noAutofit/>
                    </a:bodyPr>
                    <a:lstStyle/>
                    <a:p>
                      <a:pPr algn="l"/>
                      <a:r>
                        <a:rPr sz="1875" b="0">
                          <a:solidFill>
                            <a:srgbClr val="122B3A"/>
                          </a:solidFill>
                          <a:latin typeface="Arial"/>
                          <a:ea typeface="Arial"/>
                          <a:cs typeface="Arial"/>
                        </a:rPr>
                        <a:t>Repairs consume the shared budget</a:t>
                      </a:r>
                    </a:p>
                  </a:txBody>
                  <a:tcPr marL="91440" marR="91440" marT="45720" marB="45720" anchor="ctr">
                    <a:solidFill>
                      <a:srgbClr val="FFFFFF"/>
                    </a:solidFill>
                  </a:tcPr>
                </a:tc>
              </a:tr>
              <a:tr h="742950">
                <a:tc>
                  <a:txBody>
                    <a:bodyPr lIns="142875" tIns="95250" rIns="142875" bIns="95250">
                      <a:noAutofit/>
                    </a:bodyPr>
                    <a:lstStyle/>
                    <a:p>
                      <a:pPr algn="l"/>
                      <a:r>
                        <a:rPr sz="1875" b="0">
                          <a:solidFill>
                            <a:srgbClr val="122B3A"/>
                          </a:solidFill>
                          <a:latin typeface="Arial"/>
                          <a:ea typeface="Arial"/>
                          <a:cs typeface="Arial"/>
                        </a:rPr>
                        <a:t>Separate Summarizer</a:t>
                      </a:r>
                    </a:p>
                  </a:txBody>
                  <a:tcPr marL="91440" marR="91440" marT="45720" marB="45720" anchor="ctr">
                    <a:solidFill>
                      <a:srgbClr val="EEF1EF"/>
                    </a:solidFill>
                  </a:tcPr>
                </a:tc>
                <a:tc>
                  <a:txBody>
                    <a:bodyPr lIns="142875" tIns="95250" rIns="142875" bIns="95250">
                      <a:noAutofit/>
                    </a:bodyPr>
                    <a:lstStyle/>
                    <a:p>
                      <a:pPr algn="l"/>
                      <a:r>
                        <a:rPr sz="1875" b="0">
                          <a:solidFill>
                            <a:srgbClr val="122B3A"/>
                          </a:solidFill>
                          <a:latin typeface="Arial"/>
                          <a:ea typeface="Arial"/>
                          <a:cs typeface="Arial"/>
                        </a:rPr>
                        <a:t>Keeps synthesis focused on evidence</a:t>
                      </a:r>
                    </a:p>
                  </a:txBody>
                  <a:tcPr marL="91440" marR="91440" marT="45720" marB="45720" anchor="ctr">
                    <a:solidFill>
                      <a:srgbClr val="EEF1EF"/>
                    </a:solidFill>
                  </a:tcPr>
                </a:tc>
                <a:tc>
                  <a:txBody>
                    <a:bodyPr lIns="142875" tIns="95250" rIns="142875" bIns="95250">
                      <a:noAutofit/>
                    </a:bodyPr>
                    <a:lstStyle/>
                    <a:p>
                      <a:pPr algn="l"/>
                      <a:r>
                        <a:rPr sz="1875" b="0">
                          <a:solidFill>
                            <a:srgbClr val="122B3A"/>
                          </a:solidFill>
                          <a:latin typeface="Arial"/>
                          <a:ea typeface="Arial"/>
                          <a:cs typeface="Arial"/>
                        </a:rPr>
                        <a:t>Adds calls and can still misstate claims</a:t>
                      </a:r>
                    </a:p>
                  </a:txBody>
                  <a:tcPr marL="91440" marR="91440" marT="45720" marB="45720" anchor="ctr">
                    <a:solidFill>
                      <a:srgbClr val="EEF1EF"/>
                    </a:solidFill>
                  </a:tcPr>
                </a:tc>
              </a:tr>
            </a:tbl>
          </a:graphicData>
        </a:graphic>
      </p:graphicFrame>
      <p:sp>
        <p:nvSpPr>
          <p:cNvPr id="4" name="text-100">
            <a:extLst xmlns:a="http://schemas.openxmlformats.org/drawingml/2006/main">
              <a:ext uri="{FF2B5EF4-FFF2-40B4-BE49-F238E27FC236}">
                <a16:creationId xmlns:a16="http://schemas.microsoft.com/office/drawing/2014/main" id="{C2887FB0-5C84-4894-A29D-704D772562AB}"/>
              </a:ext>
            </a:extLst>
          </p:cNvPr>
          <p:cNvSpPr>
            <a:spLocks xmlns:a="http://schemas.openxmlformats.org/drawingml/2006/main" noGrp="1"/>
          </p:cNvSpPr>
          <p:nvPr/>
        </p:nvSpPr>
        <p:spPr>
          <a:xfrm xmlns:a="http://schemas.openxmlformats.org/drawingml/2006/main">
            <a:off x="619125" y="56197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22B3A"/>
                </a:solidFill>
                <a:latin typeface="Arial"/>
                <a:ea typeface="Arial"/>
                <a:cs typeface="Arial"/>
              </a:defRPr>
            </a:pPr>
            <a:r>
              <a:rPr sz="2550" b="1">
                <a:solidFill>
                  <a:srgbClr val="122B3A"/>
                </a:solidFill>
                <a:latin typeface="Arial"/>
                <a:ea typeface="Arial"/>
                <a:cs typeface="Arial"/>
              </a:rPr>
              <a:t>Next: at least 100 varied scenarios</a:t>
            </a:r>
          </a:p>
        </p:txBody>
      </p:sp>
      <p:sp>
        <p:nvSpPr>
          <p:cNvPr id="5" name="text-101">
            <a:extLst xmlns:a="http://schemas.openxmlformats.org/drawingml/2006/main">
              <a:ext uri="{FF2B5EF4-FFF2-40B4-BE49-F238E27FC236}">
                <a16:creationId xmlns:a16="http://schemas.microsoft.com/office/drawing/2014/main" id="{F905C0D1-81F9-4BAA-913F-2AB90BE50504}"/>
              </a:ext>
            </a:extLst>
          </p:cNvPr>
          <p:cNvSpPr>
            <a:spLocks xmlns:a="http://schemas.openxmlformats.org/drawingml/2006/main" noGrp="1"/>
          </p:cNvSpPr>
          <p:nvPr/>
        </p:nvSpPr>
        <p:spPr>
          <a:xfrm xmlns:a="http://schemas.openxmlformats.org/drawingml/2006/main">
            <a:off x="619125"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1"/>
                </a:solidFill>
                <a:latin typeface="Arial"/>
                <a:ea typeface="Arial"/>
                <a:cs typeface="Arial"/>
              </a:defRPr>
            </a:pPr>
            <a:r>
              <a:rPr sz="1800" b="0">
                <a:solidFill>
                  <a:srgbClr val="526571"/>
                </a:solidFill>
                <a:latin typeface="Arial"/>
                <a:ea typeface="Arial"/>
                <a:cs typeface="Arial"/>
              </a:rPr>
              <a:t>Compare one change at a time. Measure repeated objections, premature stops, and report fidelity.</a:t>
            </a:r>
          </a:p>
        </p:txBody>
      </p:sp>
    </p:spTree>
    <p:extLst>
      <p:ext uri="{BB962C8B-B14F-4D97-AF65-F5344CB8AC3E}">
        <p14:creationId xmlns:p14="http://schemas.microsoft.com/office/powerpoint/2010/main" val="926997702"/>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102">
            <a:extLst xmlns:a="http://schemas.openxmlformats.org/drawingml/2006/main">
              <a:ext uri="{FF2B5EF4-FFF2-40B4-BE49-F238E27FC236}">
                <a16:creationId xmlns:a16="http://schemas.microsoft.com/office/drawing/2014/main" id="{B2FEE206-0E29-48BF-A188-BD2F57B744BE}"/>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B3A"/>
                </a:solidFill>
                <a:latin typeface="Arial"/>
                <a:ea typeface="Arial"/>
                <a:cs typeface="Arial"/>
              </a:defRPr>
            </a:pPr>
            <a:r>
              <a:rPr sz="3450" b="1">
                <a:solidFill>
                  <a:srgbClr val="122B3A"/>
                </a:solidFill>
                <a:latin typeface="Arial"/>
                <a:ea typeface="Arial"/>
                <a:cs typeface="Arial"/>
              </a:rPr>
              <a:t>Assessment coverage</a:t>
            </a:r>
          </a:p>
        </p:txBody>
      </p:sp>
      <p:sp>
        <p:nvSpPr>
          <p:cNvPr id="2" name="text-103">
            <a:extLst xmlns:a="http://schemas.openxmlformats.org/drawingml/2006/main">
              <a:ext uri="{FF2B5EF4-FFF2-40B4-BE49-F238E27FC236}">
                <a16:creationId xmlns:a16="http://schemas.microsoft.com/office/drawing/2014/main" id="{B186FC1D-8250-4DC9-98A3-9766B4B6FCF6}"/>
              </a:ext>
            </a:extLst>
          </p:cNvPr>
          <p:cNvSpPr>
            <a:spLocks xmlns:a="http://schemas.openxmlformats.org/drawingml/2006/main" noGrp="1"/>
          </p:cNvSpPr>
          <p:nvPr/>
        </p:nvSpPr>
        <p:spPr>
          <a:xfrm xmlns:a="http://schemas.openxmlformats.org/drawingml/2006/main">
            <a:off x="628650" y="12001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1"/>
                </a:solidFill>
                <a:latin typeface="Arial"/>
                <a:ea typeface="Arial"/>
                <a:cs typeface="Arial"/>
              </a:defRPr>
            </a:pPr>
            <a:r>
              <a:rPr sz="1875" b="0">
                <a:solidFill>
                  <a:srgbClr val="526571"/>
                </a:solidFill>
                <a:latin typeface="Arial"/>
                <a:ea typeface="Arial"/>
                <a:cs typeface="Arial"/>
              </a:rPr>
              <a:t>The implementation, traces, and final document provide different parts of the evidence.</a:t>
            </a:r>
          </a:p>
        </p:txBody>
      </p:sp>
      <p:sp>
        <p:nvSpPr>
          <p:cNvPr id="3" name="text-104">
            <a:extLst xmlns:a="http://schemas.openxmlformats.org/drawingml/2006/main">
              <a:ext uri="{FF2B5EF4-FFF2-40B4-BE49-F238E27FC236}">
                <a16:creationId xmlns:a16="http://schemas.microsoft.com/office/drawing/2014/main" id="{F905A80D-B587-458F-8143-10FCE82C0D8C}"/>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26571"/>
                </a:solidFill>
                <a:latin typeface="Arial"/>
                <a:ea typeface="Arial"/>
                <a:cs typeface="Arial"/>
              </a:defRPr>
            </a:pPr>
            <a:r>
              <a:rPr sz="1500" b="0">
                <a:solidFill>
                  <a:srgbClr val="526571"/>
                </a:solidFill>
                <a:latin typeface="Arial"/>
                <a:ea typeface="Arial"/>
                <a:cs typeface="Arial"/>
              </a:rPr>
              <a:t>13</a:t>
            </a:r>
          </a:p>
        </p:txBody>
      </p:sp>
      <p:graphicFrame>
        <p:nvGraphicFramePr>
          <p:cNvPr id="8" name=""/>
          <p:cNvGraphicFramePr/>
          <p:nvPr/>
        </p:nvGraphicFramePr>
        <p:xfrm>
          <a:off xmlns:a="http://schemas.openxmlformats.org/drawingml/2006/main" x="619125" y="1952625"/>
          <a:ext xmlns:a="http://schemas.openxmlformats.org/drawingml/2006/main" cx="10934700" cy="4191000"/>
        </p:xfrm>
        <a:graphic xmlns:a="http://schemas.openxmlformats.org/drawingml/2006/main">
          <a:graphicData uri="http://schemas.openxmlformats.org/drawingml/2006/table">
            <a:tbl>
              <a:tblPr/>
              <a:tblGrid>
                <a:gridCol w="3476625"/>
                <a:gridCol w="7458075"/>
              </a:tblGrid>
              <a:tr h="523875">
                <a:tc>
                  <a:txBody>
                    <a:bodyPr lIns="142875" tIns="95250" rIns="142875" bIns="95250">
                      <a:noAutofit/>
                    </a:bodyPr>
                    <a:lstStyle/>
                    <a:p>
                      <a:pPr algn="l"/>
                      <a:r>
                        <a:rPr sz="1800" b="1">
                          <a:solidFill>
                            <a:srgbClr val="FFFFFF"/>
                          </a:solidFill>
                          <a:latin typeface="Arial"/>
                          <a:ea typeface="Arial"/>
                          <a:cs typeface="Arial"/>
                        </a:rPr>
                        <a:t>Requirement</a:t>
                      </a:r>
                    </a:p>
                  </a:txBody>
                  <a:tcPr marL="91440" marR="91440" marT="45720" marB="45720" anchor="ctr">
                    <a:solidFill>
                      <a:srgbClr val="122B3A"/>
                    </a:solidFill>
                  </a:tcPr>
                </a:tc>
                <a:tc>
                  <a:txBody>
                    <a:bodyPr lIns="142875" tIns="95250" rIns="142875" bIns="95250">
                      <a:noAutofit/>
                    </a:bodyPr>
                    <a:lstStyle/>
                    <a:p>
                      <a:pPr algn="l"/>
                      <a:r>
                        <a:rPr sz="1800" b="1">
                          <a:solidFill>
                            <a:srgbClr val="FFFFFF"/>
                          </a:solidFill>
                          <a:latin typeface="Arial"/>
                          <a:ea typeface="Arial"/>
                          <a:cs typeface="Arial"/>
                        </a:rPr>
                        <a:t>Evidence in this project</a:t>
                      </a:r>
                    </a:p>
                  </a:txBody>
                  <a:tcPr marL="91440" marR="91440" marT="45720" marB="45720" anchor="ctr">
                    <a:solidFill>
                      <a:srgbClr val="122B3A"/>
                    </a:solidFill>
                  </a:tcPr>
                </a:tc>
              </a:tr>
              <a:tr h="523875">
                <a:tc>
                  <a:txBody>
                    <a:bodyPr lIns="142875" tIns="95250" rIns="142875" bIns="95250">
                      <a:noAutofit/>
                    </a:bodyPr>
                    <a:lstStyle/>
                    <a:p>
                      <a:pPr algn="l"/>
                      <a:r>
                        <a:rPr sz="1800" b="0">
                          <a:solidFill>
                            <a:srgbClr val="122B3A"/>
                          </a:solidFill>
                          <a:latin typeface="Arial"/>
                          <a:ea typeface="Arial"/>
                          <a:cs typeface="Arial"/>
                        </a:rPr>
                        <a:t>Multi-round communication</a:t>
                      </a:r>
                    </a:p>
                  </a:txBody>
                  <a:tcPr marL="91440" marR="91440" marT="45720" marB="45720" anchor="ctr">
                    <a:solidFill>
                      <a:srgbClr val="FFFFFF"/>
                    </a:solidFill>
                  </a:tcPr>
                </a:tc>
                <a:tc>
                  <a:txBody>
                    <a:bodyPr lIns="142875" tIns="95250" rIns="142875" bIns="95250">
                      <a:noAutofit/>
                    </a:bodyPr>
                    <a:lstStyle/>
                    <a:p>
                      <a:pPr algn="l"/>
                      <a:r>
                        <a:rPr sz="1800" b="0">
                          <a:solidFill>
                            <a:srgbClr val="122B3A"/>
                          </a:solidFill>
                          <a:latin typeface="Arial"/>
                          <a:ea typeface="Arial"/>
                          <a:cs typeface="Arial"/>
                        </a:rPr>
                        <a:t>Five accepted Proposer/Critic pairs in the recent trace</a:t>
                      </a:r>
                    </a:p>
                  </a:txBody>
                  <a:tcPr marL="91440" marR="91440" marT="45720" marB="45720" anchor="ctr">
                    <a:solidFill>
                      <a:srgbClr val="FFFFFF"/>
                    </a:solidFill>
                  </a:tcPr>
                </a:tc>
              </a:tr>
              <a:tr h="523875">
                <a:tc>
                  <a:txBody>
                    <a:bodyPr lIns="142875" tIns="95250" rIns="142875" bIns="95250">
                      <a:noAutofit/>
                    </a:bodyPr>
                    <a:lstStyle/>
                    <a:p>
                      <a:pPr algn="l"/>
                      <a:r>
                        <a:rPr sz="1800" b="0">
                          <a:solidFill>
                            <a:srgbClr val="122B3A"/>
                          </a:solidFill>
                          <a:latin typeface="Arial"/>
                          <a:ea typeface="Arial"/>
                          <a:cs typeface="Arial"/>
                        </a:rPr>
                        <a:t>Structured final output</a:t>
                      </a:r>
                    </a:p>
                  </a:txBody>
                  <a:tcPr marL="91440" marR="91440" marT="45720" marB="45720" anchor="ctr">
                    <a:solidFill>
                      <a:srgbClr val="EEF1EF"/>
                    </a:solidFill>
                  </a:tcPr>
                </a:tc>
                <a:tc>
                  <a:txBody>
                    <a:bodyPr lIns="142875" tIns="95250" rIns="142875" bIns="95250">
                      <a:noAutofit/>
                    </a:bodyPr>
                    <a:lstStyle/>
                    <a:p>
                      <a:pPr algn="l"/>
                      <a:r>
                        <a:rPr sz="1800" b="0">
                          <a:solidFill>
                            <a:srgbClr val="122B3A"/>
                          </a:solidFill>
                          <a:latin typeface="Arial"/>
                          <a:ea typeface="Arial"/>
                          <a:cs typeface="Arial"/>
                        </a:rPr>
                        <a:t>Scope, assumptions, and human questions in final.json</a:t>
                      </a:r>
                    </a:p>
                  </a:txBody>
                  <a:tcPr marL="91440" marR="91440" marT="45720" marB="45720" anchor="ctr">
                    <a:solidFill>
                      <a:srgbClr val="EEF1EF"/>
                    </a:solidFill>
                  </a:tcPr>
                </a:tc>
              </a:tr>
              <a:tr h="523875">
                <a:tc>
                  <a:txBody>
                    <a:bodyPr lIns="142875" tIns="95250" rIns="142875" bIns="95250">
                      <a:noAutofit/>
                    </a:bodyPr>
                    <a:lstStyle/>
                    <a:p>
                      <a:pPr algn="l"/>
                      <a:r>
                        <a:rPr sz="1800" b="0">
                          <a:solidFill>
                            <a:srgbClr val="122B3A"/>
                          </a:solidFill>
                          <a:latin typeface="Arial"/>
                          <a:ea typeface="Arial"/>
                          <a:cs typeface="Arial"/>
                        </a:rPr>
                        <a:t>Intentional termination</a:t>
                      </a:r>
                    </a:p>
                  </a:txBody>
                  <a:tcPr marL="91440" marR="91440" marT="45720" marB="45720" anchor="ctr">
                    <a:solidFill>
                      <a:srgbClr val="FFFFFF"/>
                    </a:solidFill>
                  </a:tcPr>
                </a:tc>
                <a:tc>
                  <a:txBody>
                    <a:bodyPr lIns="142875" tIns="95250" rIns="142875" bIns="95250">
                      <a:noAutofit/>
                    </a:bodyPr>
                    <a:lstStyle/>
                    <a:p>
                      <a:pPr algn="l"/>
                      <a:r>
                        <a:rPr sz="1800" b="0">
                          <a:solidFill>
                            <a:srgbClr val="122B3A"/>
                          </a:solidFill>
                          <a:latin typeface="Arial"/>
                          <a:ea typeface="Arial"/>
                          <a:cs typeface="Arial"/>
                        </a:rPr>
                        <a:t>Validated Critic signal and Python stopping conditions</a:t>
                      </a:r>
                    </a:p>
                  </a:txBody>
                  <a:tcPr marL="91440" marR="91440" marT="45720" marB="45720" anchor="ctr">
                    <a:solidFill>
                      <a:srgbClr val="FFFFFF"/>
                    </a:solidFill>
                  </a:tcPr>
                </a:tc>
              </a:tr>
              <a:tr h="523875">
                <a:tc>
                  <a:txBody>
                    <a:bodyPr lIns="142875" tIns="95250" rIns="142875" bIns="95250">
                      <a:noAutofit/>
                    </a:bodyPr>
                    <a:lstStyle/>
                    <a:p>
                      <a:pPr algn="l"/>
                      <a:r>
                        <a:rPr sz="1800" b="0">
                          <a:solidFill>
                            <a:srgbClr val="122B3A"/>
                          </a:solidFill>
                          <a:latin typeface="Arial"/>
                          <a:ea typeface="Arial"/>
                          <a:cs typeface="Arial"/>
                        </a:rPr>
                        <a:t>Configurable input</a:t>
                      </a:r>
                    </a:p>
                  </a:txBody>
                  <a:tcPr marL="91440" marR="91440" marT="45720" marB="45720" anchor="ctr">
                    <a:solidFill>
                      <a:srgbClr val="EEF1EF"/>
                    </a:solidFill>
                  </a:tcPr>
                </a:tc>
                <a:tc>
                  <a:txBody>
                    <a:bodyPr lIns="142875" tIns="95250" rIns="142875" bIns="95250">
                      <a:noAutofit/>
                    </a:bodyPr>
                    <a:lstStyle/>
                    <a:p>
                      <a:pPr algn="l"/>
                      <a:r>
                        <a:rPr sz="1800" b="0">
                          <a:solidFill>
                            <a:srgbClr val="122B3A"/>
                          </a:solidFill>
                          <a:latin typeface="Arial"/>
                          <a:ea typeface="Arial"/>
                          <a:cs typeface="Arial"/>
                        </a:rPr>
                        <a:t>CLI request file or inline request, with separate context</a:t>
                      </a:r>
                    </a:p>
                  </a:txBody>
                  <a:tcPr marL="91440" marR="91440" marT="45720" marB="45720" anchor="ctr">
                    <a:solidFill>
                      <a:srgbClr val="EEF1EF"/>
                    </a:solidFill>
                  </a:tcPr>
                </a:tc>
              </a:tr>
              <a:tr h="523875">
                <a:tc>
                  <a:txBody>
                    <a:bodyPr lIns="142875" tIns="95250" rIns="142875" bIns="95250">
                      <a:noAutofit/>
                    </a:bodyPr>
                    <a:lstStyle/>
                    <a:p>
                      <a:pPr algn="l"/>
                      <a:r>
                        <a:rPr sz="1800" b="0">
                          <a:solidFill>
                            <a:srgbClr val="122B3A"/>
                          </a:solidFill>
                          <a:latin typeface="Arial"/>
                          <a:ea typeface="Arial"/>
                          <a:cs typeface="Arial"/>
                        </a:rPr>
                        <a:t>Prompt transparency</a:t>
                      </a:r>
                    </a:p>
                  </a:txBody>
                  <a:tcPr marL="91440" marR="91440" marT="45720" marB="45720" anchor="ctr">
                    <a:solidFill>
                      <a:srgbClr val="FFFFFF"/>
                    </a:solidFill>
                  </a:tcPr>
                </a:tc>
                <a:tc>
                  <a:txBody>
                    <a:bodyPr lIns="142875" tIns="95250" rIns="142875" bIns="95250">
                      <a:noAutofit/>
                    </a:bodyPr>
                    <a:lstStyle/>
                    <a:p>
                      <a:pPr algn="l"/>
                      <a:r>
                        <a:rPr sz="1800" b="0">
                          <a:solidFill>
                            <a:srgbClr val="122B3A"/>
                          </a:solidFill>
                          <a:latin typeface="Arial"/>
                          <a:ea typeface="Arial"/>
                          <a:cs typeface="Arial"/>
                        </a:rPr>
                        <a:t>Three Markdown prompts outside the orchestration code</a:t>
                      </a:r>
                    </a:p>
                  </a:txBody>
                  <a:tcPr marL="91440" marR="91440" marT="45720" marB="45720" anchor="ctr">
                    <a:solidFill>
                      <a:srgbClr val="FFFFFF"/>
                    </a:solidFill>
                  </a:tcPr>
                </a:tc>
              </a:tr>
              <a:tr h="523875">
                <a:tc>
                  <a:txBody>
                    <a:bodyPr lIns="142875" tIns="95250" rIns="142875" bIns="95250">
                      <a:noAutofit/>
                    </a:bodyPr>
                    <a:lstStyle/>
                    <a:p>
                      <a:pPr algn="l"/>
                      <a:r>
                        <a:rPr sz="1800" b="0">
                          <a:solidFill>
                            <a:srgbClr val="122B3A"/>
                          </a:solidFill>
                          <a:latin typeface="Arial"/>
                          <a:ea typeface="Arial"/>
                          <a:cs typeface="Arial"/>
                        </a:rPr>
                        <a:t>Summarizer bonus</a:t>
                      </a:r>
                    </a:p>
                  </a:txBody>
                  <a:tcPr marL="91440" marR="91440" marT="45720" marB="45720" anchor="ctr">
                    <a:solidFill>
                      <a:srgbClr val="EEF1EF"/>
                    </a:solidFill>
                  </a:tcPr>
                </a:tc>
                <a:tc>
                  <a:txBody>
                    <a:bodyPr lIns="142875" tIns="95250" rIns="142875" bIns="95250">
                      <a:noAutofit/>
                    </a:bodyPr>
                    <a:lstStyle/>
                    <a:p>
                      <a:pPr algn="l"/>
                      <a:r>
                        <a:rPr sz="1800" b="0">
                          <a:solidFill>
                            <a:srgbClr val="122B3A"/>
                          </a:solidFill>
                          <a:latin typeface="Arial"/>
                          <a:ea typeface="Arial"/>
                          <a:cs typeface="Arial"/>
                        </a:rPr>
                        <a:t>Separate synthesis pass writes the decision content</a:t>
                      </a:r>
                    </a:p>
                  </a:txBody>
                  <a:tcPr marL="91440" marR="91440" marT="45720" marB="45720" anchor="ctr">
                    <a:solidFill>
                      <a:srgbClr val="EEF1EF"/>
                    </a:solidFill>
                  </a:tcPr>
                </a:tc>
              </a:tr>
              <a:tr h="523875">
                <a:tc>
                  <a:txBody>
                    <a:bodyPr lIns="142875" tIns="95250" rIns="142875" bIns="95250">
                      <a:noAutofit/>
                    </a:bodyPr>
                    <a:lstStyle/>
                    <a:p>
                      <a:pPr algn="l"/>
                      <a:r>
                        <a:rPr sz="1800" b="0">
                          <a:solidFill>
                            <a:srgbClr val="122B3A"/>
                          </a:solidFill>
                          <a:latin typeface="Arial"/>
                          <a:ea typeface="Arial"/>
                          <a:cs typeface="Arial"/>
                        </a:rPr>
                        <a:t>Confidence bonus</a:t>
                      </a:r>
                    </a:p>
                  </a:txBody>
                  <a:tcPr marL="91440" marR="91440" marT="45720" marB="45720" anchor="ctr">
                    <a:solidFill>
                      <a:srgbClr val="FFFFFF"/>
                    </a:solidFill>
                  </a:tcPr>
                </a:tc>
                <a:tc>
                  <a:txBody>
                    <a:bodyPr lIns="142875" tIns="95250" rIns="142875" bIns="95250">
                      <a:noAutofit/>
                    </a:bodyPr>
                    <a:lstStyle/>
                    <a:p>
                      <a:pPr algn="l"/>
                      <a:r>
                        <a:rPr sz="1800" b="0">
                          <a:solidFill>
                            <a:srgbClr val="122B3A"/>
                          </a:solidFill>
                          <a:latin typeface="Arial"/>
                          <a:ea typeface="Arial"/>
                          <a:cs typeface="Arial"/>
                        </a:rPr>
                        <a:t>Both agents report scores, reasoning, and uncertainty</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507021263"/>
      </p:ext>
    </p:extLst>
  </p:cSld>
</p:sld>
</file>

<file path=ppt/slides/slide14.xml><?xml version="1.0" encoding="utf-8"?>
<p:sld xmlns:p="http://schemas.openxmlformats.org/presentationml/2006/main">
  <p:cSld>
    <p:bg>
      <p:bgPr>
        <a:solidFill xmlns:a="http://schemas.openxmlformats.org/drawingml/2006/main">
          <a:srgbClr val="122B3A"/>
        </a:solidFill>
      </p:bgPr>
    </p:bg>
    <p:spTree>
      <p:nvGrpSpPr>
        <p:cNvPr id="1" name=""/>
        <p:cNvGrpSpPr/>
        <p:nvPr/>
      </p:nvGrpSpPr>
      <p:grpSpPr>
        <a:xfrm xmlns:a="http://schemas.openxmlformats.org/drawingml/2006/main"/>
      </p:grpSpPr>
      <p:sp>
        <p:nvSpPr>
          <p:cNvPr id="9" name="text-105">
            <a:extLst xmlns:a="http://schemas.openxmlformats.org/drawingml/2006/main">
              <a:ext uri="{FF2B5EF4-FFF2-40B4-BE49-F238E27FC236}">
                <a16:creationId xmlns:a16="http://schemas.microsoft.com/office/drawing/2014/main" id="{CFDF6348-3E7E-4314-A6A2-91C38F043695}"/>
              </a:ext>
            </a:extLst>
          </p:cNvPr>
          <p:cNvSpPr>
            <a:spLocks xmlns:a="http://schemas.openxmlformats.org/drawingml/2006/main" noGrp="1"/>
          </p:cNvSpPr>
          <p:nvPr/>
        </p:nvSpPr>
        <p:spPr>
          <a:xfrm xmlns:a="http://schemas.openxmlformats.org/drawingml/2006/main">
            <a:off x="609600" y="476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Project evidence</a:t>
            </a:r>
          </a:p>
        </p:txBody>
      </p:sp>
      <p:sp>
        <p:nvSpPr>
          <p:cNvPr id="2" name="text-106">
            <a:extLst xmlns:a="http://schemas.openxmlformats.org/drawingml/2006/main">
              <a:ext uri="{FF2B5EF4-FFF2-40B4-BE49-F238E27FC236}">
                <a16:creationId xmlns:a16="http://schemas.microsoft.com/office/drawing/2014/main" id="{3A3F6382-0613-4479-AE7D-E230DD3E2A75}"/>
              </a:ext>
            </a:extLst>
          </p:cNvPr>
          <p:cNvSpPr>
            <a:spLocks xmlns:a="http://schemas.openxmlformats.org/drawingml/2006/main" noGrp="1"/>
          </p:cNvSpPr>
          <p:nvPr/>
        </p:nvSpPr>
        <p:spPr>
          <a:xfrm xmlns:a="http://schemas.openxmlformats.org/drawingml/2006/main">
            <a:off x="11220450" y="64103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BFD0D8"/>
                </a:solidFill>
                <a:latin typeface="Arial"/>
                <a:ea typeface="Arial"/>
                <a:cs typeface="Arial"/>
              </a:defRPr>
            </a:pPr>
            <a:r>
              <a:rPr sz="1500" b="0">
                <a:solidFill>
                  <a:srgbClr val="BFD0D8"/>
                </a:solidFill>
                <a:latin typeface="Arial"/>
                <a:ea typeface="Arial"/>
                <a:cs typeface="Arial"/>
              </a:rPr>
              <a:t>14</a:t>
            </a:r>
          </a:p>
        </p:txBody>
      </p:sp>
      <p:sp>
        <p:nvSpPr>
          <p:cNvPr id="3" name="text-107">
            <a:extLst xmlns:a="http://schemas.openxmlformats.org/drawingml/2006/main">
              <a:ext uri="{FF2B5EF4-FFF2-40B4-BE49-F238E27FC236}">
                <a16:creationId xmlns:a16="http://schemas.microsoft.com/office/drawing/2014/main" id="{7B377D0B-27E0-4722-A194-F0F7A6D2C169}"/>
              </a:ext>
            </a:extLst>
          </p:cNvPr>
          <p:cNvSpPr>
            <a:spLocks xmlns:a="http://schemas.openxmlformats.org/drawingml/2006/main" noGrp="1"/>
          </p:cNvSpPr>
          <p:nvPr/>
        </p:nvSpPr>
        <p:spPr>
          <a:xfrm xmlns:a="http://schemas.openxmlformats.org/drawingml/2006/main">
            <a:off x="647700" y="18288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D7EC9E"/>
                </a:solidFill>
                <a:latin typeface="Arial"/>
                <a:ea typeface="Arial"/>
                <a:cs typeface="Arial"/>
              </a:defRPr>
            </a:pPr>
            <a:r>
              <a:rPr sz="2625" b="1">
                <a:solidFill>
                  <a:srgbClr val="D7EC9E"/>
                </a:solidFill>
                <a:latin typeface="Arial"/>
                <a:ea typeface="Arial"/>
                <a:cs typeface="Arial"/>
                <a:hlinkClick xmlns:r="http://schemas.openxmlformats.org/officeDocument/2006/relationships" r:id="Re43a08512acd4fef"/>
              </a:rPr>
              <a:t>Source code, prompts, and saved runs</a:t>
            </a:r>
          </a:p>
        </p:txBody>
      </p:sp>
      <p:sp>
        <p:nvSpPr>
          <p:cNvPr id="4" name="text-108">
            <a:extLst xmlns:a="http://schemas.openxmlformats.org/drawingml/2006/main">
              <a:ext uri="{FF2B5EF4-FFF2-40B4-BE49-F238E27FC236}">
                <a16:creationId xmlns:a16="http://schemas.microsoft.com/office/drawing/2014/main" id="{A27761F9-DC5B-43DF-AEA6-732546E6ED8C}"/>
              </a:ext>
            </a:extLst>
          </p:cNvPr>
          <p:cNvSpPr>
            <a:spLocks xmlns:a="http://schemas.openxmlformats.org/drawingml/2006/main" noGrp="1"/>
          </p:cNvSpPr>
          <p:nvPr/>
        </p:nvSpPr>
        <p:spPr>
          <a:xfrm xmlns:a="http://schemas.openxmlformats.org/drawingml/2006/main">
            <a:off x="647700" y="24003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FD0D8"/>
                </a:solidFill>
                <a:latin typeface="Arial"/>
                <a:ea typeface="Arial"/>
                <a:cs typeface="Arial"/>
              </a:defRPr>
            </a:pPr>
            <a:r>
              <a:rPr sz="2025" b="0">
                <a:solidFill>
                  <a:srgbClr val="BFD0D8"/>
                </a:solidFill>
                <a:latin typeface="Arial"/>
                <a:ea typeface="Arial"/>
                <a:cs typeface="Arial"/>
              </a:rPr>
              <a:t>github.com/kamishas/debate-engines</a:t>
            </a:r>
          </a:p>
        </p:txBody>
      </p:sp>
      <p:sp>
        <p:nvSpPr>
          <p:cNvPr id="5" name="text-109">
            <a:extLst xmlns:a="http://schemas.openxmlformats.org/drawingml/2006/main">
              <a:ext uri="{FF2B5EF4-FFF2-40B4-BE49-F238E27FC236}">
                <a16:creationId xmlns:a16="http://schemas.microsoft.com/office/drawing/2014/main" id="{D0CC3DA9-C3C5-4AB7-B793-3B24FAAB1968}"/>
              </a:ext>
            </a:extLst>
          </p:cNvPr>
          <p:cNvSpPr>
            <a:spLocks xmlns:a="http://schemas.openxmlformats.org/drawingml/2006/main" noGrp="1"/>
          </p:cNvSpPr>
          <p:nvPr/>
        </p:nvSpPr>
        <p:spPr>
          <a:xfrm xmlns:a="http://schemas.openxmlformats.org/drawingml/2006/main">
            <a:off x="647700" y="338137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hlinkClick xmlns:r="http://schemas.openxmlformats.org/officeDocument/2006/relationships" r:id="Raf7b25d2bbe245cd"/>
              </a:rPr>
              <a:t>Quick Project Walkthrough &amp; Prompts for agent Quick Justification</a:t>
            </a:r>
          </a:p>
        </p:txBody>
      </p:sp>
      <p:sp>
        <p:nvSpPr>
          <p:cNvPr id="6" name="text-110">
            <a:extLst xmlns:a="http://schemas.openxmlformats.org/drawingml/2006/main">
              <a:ext uri="{FF2B5EF4-FFF2-40B4-BE49-F238E27FC236}">
                <a16:creationId xmlns:a16="http://schemas.microsoft.com/office/drawing/2014/main" id="{80B5EB0A-22D7-4CD6-9112-928EF0794CEC}"/>
              </a:ext>
            </a:extLst>
          </p:cNvPr>
          <p:cNvSpPr>
            <a:spLocks xmlns:a="http://schemas.openxmlformats.org/drawingml/2006/main" noGrp="1"/>
          </p:cNvSpPr>
          <p:nvPr/>
        </p:nvSpPr>
        <p:spPr>
          <a:xfrm xmlns:a="http://schemas.openxmlformats.org/drawingml/2006/main">
            <a:off x="647700" y="40195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FD0D8"/>
                </a:solidFill>
                <a:latin typeface="Arial"/>
                <a:ea typeface="Arial"/>
                <a:cs typeface="Arial"/>
              </a:defRPr>
            </a:pPr>
            <a:r>
              <a:rPr sz="1875" b="0">
                <a:solidFill>
                  <a:srgbClr val="BFD0D8"/>
                </a:solidFill>
                <a:latin typeface="Arial"/>
                <a:ea typeface="Arial"/>
                <a:cs typeface="Arial"/>
              </a:rPr>
              <a:t>Recorded architecture and prompt explanation</a:t>
            </a:r>
          </a:p>
        </p:txBody>
      </p:sp>
      <p:sp>
        <p:nvSpPr>
          <p:cNvPr id="7" name="text-111">
            <a:extLst xmlns:a="http://schemas.openxmlformats.org/drawingml/2006/main">
              <a:ext uri="{FF2B5EF4-FFF2-40B4-BE49-F238E27FC236}">
                <a16:creationId xmlns:a16="http://schemas.microsoft.com/office/drawing/2014/main" id="{E4447737-9B80-48F1-945C-14DDEC58016D}"/>
              </a:ext>
            </a:extLst>
          </p:cNvPr>
          <p:cNvSpPr>
            <a:spLocks xmlns:a="http://schemas.openxmlformats.org/drawingml/2006/main" noGrp="1"/>
          </p:cNvSpPr>
          <p:nvPr/>
        </p:nvSpPr>
        <p:spPr>
          <a:xfrm xmlns:a="http://schemas.openxmlformats.org/drawingml/2006/main">
            <a:off x="647700" y="48958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hlinkClick xmlns:r="http://schemas.openxmlformats.org/officeDocument/2006/relationships" r:id="Rae23e3f2697e449d"/>
              </a:rPr>
              <a:t>Quick Live Demo Execution with Results</a:t>
            </a:r>
          </a:p>
        </p:txBody>
      </p:sp>
      <p:sp>
        <p:nvSpPr>
          <p:cNvPr id="8" name="text-112">
            <a:extLst xmlns:a="http://schemas.openxmlformats.org/drawingml/2006/main">
              <a:ext uri="{FF2B5EF4-FFF2-40B4-BE49-F238E27FC236}">
                <a16:creationId xmlns:a16="http://schemas.microsoft.com/office/drawing/2014/main" id="{0131771C-023C-4EED-903C-029823880A19}"/>
              </a:ext>
            </a:extLst>
          </p:cNvPr>
          <p:cNvSpPr>
            <a:spLocks xmlns:a="http://schemas.openxmlformats.org/drawingml/2006/main" noGrp="1"/>
          </p:cNvSpPr>
          <p:nvPr/>
        </p:nvSpPr>
        <p:spPr>
          <a:xfrm xmlns:a="http://schemas.openxmlformats.org/drawingml/2006/main">
            <a:off x="647700" y="54102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FD0D8"/>
                </a:solidFill>
                <a:latin typeface="Arial"/>
                <a:ea typeface="Arial"/>
                <a:cs typeface="Arial"/>
              </a:defRPr>
            </a:pPr>
            <a:r>
              <a:rPr sz="1875" b="0">
                <a:solidFill>
                  <a:srgbClr val="BFD0D8"/>
                </a:solidFill>
                <a:latin typeface="Arial"/>
                <a:ea typeface="Arial"/>
                <a:cs typeface="Arial"/>
              </a:rPr>
              <a:t>Recorded execution and output walkthrough</a:t>
            </a:r>
          </a:p>
        </p:txBody>
      </p:sp>
    </p:spTree>
    <p:extLst>
      <p:ext uri="{BB962C8B-B14F-4D97-AF65-F5344CB8AC3E}">
        <p14:creationId xmlns:p14="http://schemas.microsoft.com/office/powerpoint/2010/main" val="6594057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2026-10-05T10:15:40.8430000Z</dcterms:created>
  <dcterms:modified xsi:type="dcterms:W3CDTF">2026-10-05T10:15:40.8430000Z</dcterms:modified>
</coreProperties>
</file>